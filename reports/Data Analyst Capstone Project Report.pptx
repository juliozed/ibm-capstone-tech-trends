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heme/theme2.xml" ContentType="application/vnd.openxmlformats-officedocument.theme+xml"/>
  <Override PartName="/ppt/tags/tag7.xml" ContentType="application/vnd.openxmlformats-officedocument.presentationml.tags+xml"/>
  <Override PartName="/ppt/tags/tag8.xml" ContentType="application/vnd.openxmlformats-officedocument.presentationml.tags+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notesSlides/notesSlide1.xml" ContentType="application/vnd.openxmlformats-officedocument.presentationml.notesSlide+xml"/>
  <Override PartName="/ppt/tags/tag24.xml" ContentType="application/vnd.openxmlformats-officedocument.presentationml.tags+xml"/>
  <Override PartName="/ppt/notesSlides/notesSlide2.xml" ContentType="application/vnd.openxmlformats-officedocument.presentationml.notesSlide+xml"/>
  <Override PartName="/ppt/tags/tag25.xml" ContentType="application/vnd.openxmlformats-officedocument.presentationml.tags+xml"/>
  <Override PartName="/ppt/tags/tag26.xml" ContentType="application/vnd.openxmlformats-officedocument.presentationml.tags+xml"/>
  <Override PartName="/ppt/notesSlides/notesSlide3.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4"/>
  </p:sldMasterIdLst>
  <p:notesMasterIdLst>
    <p:notesMasterId r:id="rId25"/>
  </p:notesMasterIdLst>
  <p:sldIdLst>
    <p:sldId id="256" r:id="rId5"/>
    <p:sldId id="257" r:id="rId6"/>
    <p:sldId id="258" r:id="rId7"/>
    <p:sldId id="259" r:id="rId8"/>
    <p:sldId id="260" r:id="rId9"/>
    <p:sldId id="278" r:id="rId10"/>
    <p:sldId id="274" r:id="rId11"/>
    <p:sldId id="275"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Lst>
  <p:sldSz cx="12192000" cy="6858000"/>
  <p:notesSz cx="6858000" cy="1857375"/>
  <p:custDataLst>
    <p:tags r:id="rId26"/>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744" userDrawn="1">
          <p15:clr>
            <a:srgbClr val="A4A3A4"/>
          </p15:clr>
        </p15:guide>
        <p15:guide id="2" pos="288"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BBD3AA52-0FB4-F6D0-6D07-1A3D2D9FD3FC}" name="Marianne Seidler" initials="MS" userId="S::mariannes@skillup.tech::bb0b4178-c940-4a9a-9c5e-e97bf5d50d86" providerId="AD"/>
  <p188:author id="{F554C3DC-94B8-9F7D-83FC-6D4CEC0DE845}" name="Dawn Teel-Friedman" initials="DTF" userId="Dawn Teel-Friedman" providerId="None"/>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Rose Malcolm" initials="RM" lastIdx="1" clrIdx="0">
    <p:extLst>
      <p:ext uri="{19B8F6BF-5375-455C-9EA6-DF929625EA0E}">
        <p15:presenceInfo xmlns:p15="http://schemas.microsoft.com/office/powerpoint/2012/main" userId="Rose Malcolm" providerId="None"/>
      </p:ext>
    </p:extLst>
  </p:cmAuthor>
  <p:cmAuthor id="2" name="Rose Malcolm" initials="RM [2]" lastIdx="7" clrIdx="1">
    <p:extLst>
      <p:ext uri="{19B8F6BF-5375-455C-9EA6-DF929625EA0E}">
        <p15:presenceInfo xmlns:p15="http://schemas.microsoft.com/office/powerpoint/2012/main" userId="17c9fa32013483c0" providerId="Windows Live"/>
      </p:ext>
    </p:extLst>
  </p:cmAuthor>
  <p:cmAuthor id="3" name="Ramesh Sannareddy" initials="RS" lastIdx="7" clrIdx="2">
    <p:extLst>
      <p:ext uri="{19B8F6BF-5375-455C-9EA6-DF929625EA0E}">
        <p15:presenceInfo xmlns:p15="http://schemas.microsoft.com/office/powerpoint/2012/main" userId="YZ5PSXVD06EfD4/04RF+4IpszM4ZmL7FtUZDJf4jPLA=" providerId="None"/>
      </p:ext>
    </p:extLst>
  </p:cmAuthor>
  <p:cmAuthor id="4" name="UPKAR LIDDER" initials="UL" lastIdx="2" clrIdx="3"/>
  <p:cmAuthor id="5" name="Beth Larsen" initials="BL" lastIdx="1" clrIdx="4">
    <p:extLst>
      <p:ext uri="{19B8F6BF-5375-455C-9EA6-DF929625EA0E}">
        <p15:presenceInfo xmlns:p15="http://schemas.microsoft.com/office/powerpoint/2012/main" userId="04edb8684ac0beb8" providerId="Windows Live"/>
      </p:ext>
    </p:extLst>
  </p:cmAuthor>
  <p:cmAuthor id="6" name="Matt Ockenfels" initials="MO" lastIdx="1" clrIdx="5">
    <p:extLst>
      <p:ext uri="{19B8F6BF-5375-455C-9EA6-DF929625EA0E}">
        <p15:presenceInfo xmlns:p15="http://schemas.microsoft.com/office/powerpoint/2012/main" userId="S::matto@skillup.tech::1f5f8b86-5465-4302-9a82-9a36d055e8b7"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97B49"/>
    <a:srgbClr val="E76F39"/>
    <a:srgbClr val="0072C3"/>
    <a:srgbClr val="007D79"/>
    <a:srgbClr val="D02670"/>
    <a:srgbClr val="231F20"/>
    <a:srgbClr val="33B1FF"/>
    <a:srgbClr val="262626"/>
    <a:srgbClr val="525252"/>
    <a:srgbClr val="BE95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713" autoAdjust="0"/>
    <p:restoredTop sz="91480" autoAdjust="0"/>
  </p:normalViewPr>
  <p:slideViewPr>
    <p:cSldViewPr snapToGrid="0">
      <p:cViewPr varScale="1">
        <p:scale>
          <a:sx n="73" d="100"/>
          <a:sy n="73" d="100"/>
        </p:scale>
        <p:origin x="10" y="370"/>
      </p:cViewPr>
      <p:guideLst>
        <p:guide orient="horz" pos="744"/>
        <p:guide pos="288"/>
      </p:guideLst>
    </p:cSldViewPr>
  </p:slideViewPr>
  <p:notesTextViewPr>
    <p:cViewPr>
      <p:scale>
        <a:sx n="1" d="1"/>
        <a:sy n="1" d="1"/>
      </p:scale>
      <p:origin x="0" y="0"/>
    </p:cViewPr>
  </p:notesTextViewPr>
  <p:sorterViewPr>
    <p:cViewPr varScale="1">
      <p:scale>
        <a:sx n="100" d="100"/>
        <a:sy n="100" d="100"/>
      </p:scale>
      <p:origin x="0" y="0"/>
    </p:cViewPr>
  </p:sorterViewPr>
  <p:notesViewPr>
    <p:cSldViewPr snapToGrid="0">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ags" Target="tags/tag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microsoft.com/office/2018/10/relationships/authors" Target="author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commentAuthors" Target="commentAuthors.xml"/><Relationship Id="rId30" Type="http://schemas.openxmlformats.org/officeDocument/2006/relationships/theme" Target="theme/theme1.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0-30T05:40:55.088"/>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0,'0'0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0-30T05:40:55.089"/>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0-30T05:40:55.090"/>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0,'0'0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0-30T05:40:55.091"/>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0,'6'0,"-4"6,-2 2</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0-30T05:40:55.092"/>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0-30T05:40:55.093"/>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0-30T05:40:55.094"/>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0-30T05:40:55.095"/>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0-30T05:40:55.096"/>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1 0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E497948-54D2-43F8-9A63-A99FE3051738}" type="datetimeFigureOut">
              <a:rPr lang="en-US" smtClean="0"/>
              <a:t>5/27/2026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r>
              <a:rPr lang="en-US"/>
              <a:t> </a:t>
            </a:r>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EBDA0E2-FEBD-4B65-8F16-724CF984F377}" type="slidenum">
              <a:rPr lang="en-US" smtClean="0"/>
              <a:t>‹#›</a:t>
            </a:fld>
            <a:endParaRPr lang="en-US"/>
          </a:p>
        </p:txBody>
      </p:sp>
    </p:spTree>
    <p:extLst>
      <p:ext uri="{BB962C8B-B14F-4D97-AF65-F5344CB8AC3E}">
        <p14:creationId xmlns:p14="http://schemas.microsoft.com/office/powerpoint/2010/main" val="28022222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EBDA0E2-FEBD-4B65-8F16-724CF984F377}" type="slidenum">
              <a:rPr lang="en-US" smtClean="0"/>
              <a:t>17</a:t>
            </a:fld>
            <a:endParaRPr lang="en-US"/>
          </a:p>
        </p:txBody>
      </p:sp>
    </p:spTree>
    <p:extLst>
      <p:ext uri="{BB962C8B-B14F-4D97-AF65-F5344CB8AC3E}">
        <p14:creationId xmlns:p14="http://schemas.microsoft.com/office/powerpoint/2010/main" val="120609852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EBDA0E2-FEBD-4B65-8F16-724CF984F377}" type="slidenum">
              <a:rPr lang="en-US" smtClean="0"/>
              <a:t>18</a:t>
            </a:fld>
            <a:endParaRPr lang="en-US"/>
          </a:p>
        </p:txBody>
      </p:sp>
    </p:spTree>
    <p:extLst>
      <p:ext uri="{BB962C8B-B14F-4D97-AF65-F5344CB8AC3E}">
        <p14:creationId xmlns:p14="http://schemas.microsoft.com/office/powerpoint/2010/main" val="41116573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EBDA0E2-FEBD-4B65-8F16-724CF984F377}" type="slidenum">
              <a:rPr lang="en-US" smtClean="0"/>
              <a:t>20</a:t>
            </a:fld>
            <a:endParaRPr lang="en-US"/>
          </a:p>
        </p:txBody>
      </p:sp>
    </p:spTree>
    <p:extLst>
      <p:ext uri="{BB962C8B-B14F-4D97-AF65-F5344CB8AC3E}">
        <p14:creationId xmlns:p14="http://schemas.microsoft.com/office/powerpoint/2010/main" val="3753573858"/>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slideMaster" Target="../slideMasters/slideMaster1.xml"/><Relationship Id="rId1" Type="http://schemas.openxmlformats.org/officeDocument/2006/relationships/tags" Target="../tags/tag3.xml"/><Relationship Id="rId5" Type="http://schemas.openxmlformats.org/officeDocument/2006/relationships/image" Target="../media/image4.svg"/><Relationship Id="rId4" Type="http://schemas.openxmlformats.org/officeDocument/2006/relationships/image" Target="../media/image3.svg"/></Relationships>
</file>

<file path=ppt/slideLayouts/_rels/slideLayout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4.xml"/></Relationships>
</file>

<file path=ppt/slideLayouts/_rels/slideLayout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5.xml"/></Relationships>
</file>

<file path=ppt/slideLayouts/_rels/slideLayout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6.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Slide">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613873" y="1168401"/>
            <a:ext cx="10964254" cy="2387600"/>
          </a:xfrm>
          <a:solidFill>
            <a:schemeClr val="bg2"/>
          </a:solidFill>
        </p:spPr>
        <p:txBody>
          <a:bodyPr anchor="b">
            <a:normAutofit/>
          </a:bodyPr>
          <a:lstStyle>
            <a:lvl1pPr algn="ctr">
              <a:defRPr sz="4800" b="0" i="0">
                <a:solidFill>
                  <a:srgbClr val="525252"/>
                </a:solidFill>
                <a:latin typeface="IBM Plex Sans SemiBold" panose="020B0503050203000203" pitchFamily="34" charset="0"/>
                <a:ea typeface="IBM Plex Sans SemiBold" panose="020B0503050203000203" pitchFamily="34" charset="0"/>
                <a:cs typeface="IBM Plex Sans SemiBold" panose="020B0503050203000203" pitchFamily="34" charset="0"/>
              </a:defRPr>
            </a:lvl1pPr>
          </a:lstStyle>
          <a:p>
            <a:r>
              <a:rPr lang="en-US"/>
              <a:t>Click to edit Master title style</a:t>
            </a:r>
            <a:endParaRPr lang="en-US" dirty="0"/>
          </a:p>
        </p:txBody>
      </p:sp>
      <p:sp>
        <p:nvSpPr>
          <p:cNvPr id="3" name="Subtitle 2"/>
          <p:cNvSpPr>
            <a:spLocks noGrp="1"/>
          </p:cNvSpPr>
          <p:nvPr>
            <p:ph type="subTitle" idx="1"/>
          </p:nvPr>
        </p:nvSpPr>
        <p:spPr>
          <a:xfrm>
            <a:off x="1528273" y="3731247"/>
            <a:ext cx="9135454" cy="1655762"/>
          </a:xfrm>
        </p:spPr>
        <p:txBody>
          <a:bodyPr>
            <a:normAutofit/>
          </a:bodyPr>
          <a:lstStyle>
            <a:lvl1pPr marL="0" indent="0" algn="ctr">
              <a:buNone/>
              <a:defRPr sz="2400" b="0" i="0">
                <a:solidFill>
                  <a:srgbClr val="525252"/>
                </a:solidFill>
                <a:latin typeface="IBM Plex Sans" panose="020B0503050203000203"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cxnSp>
        <p:nvCxnSpPr>
          <p:cNvPr id="8" name="Straight Connector 7"/>
          <p:cNvCxnSpPr/>
          <p:nvPr/>
        </p:nvCxnSpPr>
        <p:spPr>
          <a:xfrm>
            <a:off x="2880360" y="3649111"/>
            <a:ext cx="6431280" cy="0"/>
          </a:xfrm>
          <a:prstGeom prst="line">
            <a:avLst/>
          </a:prstGeom>
          <a:ln>
            <a:solidFill>
              <a:srgbClr val="6C4DEA"/>
            </a:solidFill>
          </a:ln>
        </p:spPr>
        <p:style>
          <a:lnRef idx="1">
            <a:schemeClr val="accent1"/>
          </a:lnRef>
          <a:fillRef idx="0">
            <a:schemeClr val="accent1"/>
          </a:fillRef>
          <a:effectRef idx="0">
            <a:schemeClr val="accent1"/>
          </a:effectRef>
          <a:fontRef idx="minor">
            <a:schemeClr val="tx1"/>
          </a:fontRef>
        </p:style>
      </p:cxnSp>
      <p:sp>
        <p:nvSpPr>
          <p:cNvPr id="9" name="Rectangle 8"/>
          <p:cNvSpPr>
            <a:spLocks noChangeArrowheads="1"/>
          </p:cNvSpPr>
          <p:nvPr/>
        </p:nvSpPr>
        <p:spPr bwMode="black">
          <a:xfrm>
            <a:off x="4093580" y="5537419"/>
            <a:ext cx="4004840" cy="304359"/>
          </a:xfrm>
          <a:prstGeom prst="rect">
            <a:avLst/>
          </a:prstGeom>
          <a:noFill/>
          <a:ln w="9525">
            <a:noFill/>
            <a:miter lim="800000"/>
            <a:headEnd/>
            <a:tailEnd/>
          </a:ln>
        </p:spPr>
        <p:txBody>
          <a:bodyPr lIns="92075" tIns="46038" rIns="92075" bIns="46038"/>
          <a:lstStyle>
            <a:lvl1pPr eaLnBrk="0" hangingPunct="0">
              <a:defRPr b="1">
                <a:solidFill>
                  <a:schemeClr val="tx1"/>
                </a:solidFill>
                <a:latin typeface="Arial" panose="020B0604020202020204" pitchFamily="34" charset="0"/>
                <a:cs typeface="Arial" panose="020B0604020202020204" pitchFamily="34" charset="0"/>
              </a:defRPr>
            </a:lvl1pPr>
            <a:lvl2pPr marL="742950" indent="-285750" eaLnBrk="0" hangingPunct="0">
              <a:defRPr b="1">
                <a:solidFill>
                  <a:schemeClr val="tx1"/>
                </a:solidFill>
                <a:latin typeface="Arial" panose="020B0604020202020204" pitchFamily="34" charset="0"/>
                <a:cs typeface="Arial" panose="020B0604020202020204" pitchFamily="34" charset="0"/>
              </a:defRPr>
            </a:lvl2pPr>
            <a:lvl3pPr marL="1143000" indent="-228600" eaLnBrk="0" hangingPunct="0">
              <a:defRPr b="1">
                <a:solidFill>
                  <a:schemeClr val="tx1"/>
                </a:solidFill>
                <a:latin typeface="Arial" panose="020B0604020202020204" pitchFamily="34" charset="0"/>
                <a:cs typeface="Arial" panose="020B0604020202020204" pitchFamily="34" charset="0"/>
              </a:defRPr>
            </a:lvl3pPr>
            <a:lvl4pPr marL="1600200" indent="-228600" eaLnBrk="0" hangingPunct="0">
              <a:defRPr b="1">
                <a:solidFill>
                  <a:schemeClr val="tx1"/>
                </a:solidFill>
                <a:latin typeface="Arial" panose="020B0604020202020204" pitchFamily="34" charset="0"/>
                <a:cs typeface="Arial" panose="020B0604020202020204" pitchFamily="34" charset="0"/>
              </a:defRPr>
            </a:lvl4pPr>
            <a:lvl5pPr marL="2057400" indent="-228600" eaLnBrk="0" hangingPunct="0">
              <a:defRPr b="1">
                <a:solidFill>
                  <a:schemeClr val="tx1"/>
                </a:solidFill>
                <a:latin typeface="Arial" panose="020B0604020202020204" pitchFamily="34" charset="0"/>
                <a:cs typeface="Arial" panose="020B0604020202020204" pitchFamily="34" charset="0"/>
              </a:defRPr>
            </a:lvl5pPr>
            <a:lvl6pPr marL="2514600" indent="-228600" algn="r"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6pPr>
            <a:lvl7pPr marL="2971800" indent="-228600" algn="r"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7pPr>
            <a:lvl8pPr marL="3429000" indent="-228600" algn="r"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8pPr>
            <a:lvl9pPr marL="3886200" indent="-228600" algn="r"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9pPr>
          </a:lstStyle>
          <a:p>
            <a:pPr algn="ctr" eaLnBrk="1" hangingPunct="1"/>
            <a:r>
              <a:rPr lang="en-US" sz="1400" b="0">
                <a:solidFill>
                  <a:srgbClr val="000000"/>
                </a:solidFill>
                <a:latin typeface="Helv"/>
              </a:rPr>
              <a:t>© IBM Corporation. All rights reserved.</a:t>
            </a:r>
          </a:p>
        </p:txBody>
      </p:sp>
      <p:grpSp>
        <p:nvGrpSpPr>
          <p:cNvPr id="5" name="Group 4">
            <a:extLst>
              <a:ext uri="{FF2B5EF4-FFF2-40B4-BE49-F238E27FC236}">
                <a16:creationId xmlns:a16="http://schemas.microsoft.com/office/drawing/2014/main" id="{CB5BAB42-A6B6-D2DB-EC91-721CA287B900}"/>
              </a:ext>
            </a:extLst>
          </p:cNvPr>
          <p:cNvGrpSpPr/>
          <p:nvPr userDrawn="1"/>
        </p:nvGrpSpPr>
        <p:grpSpPr>
          <a:xfrm>
            <a:off x="11094856" y="6244940"/>
            <a:ext cx="1098532" cy="613059"/>
            <a:chOff x="8965342" y="4231217"/>
            <a:chExt cx="1608171" cy="897474"/>
          </a:xfrm>
        </p:grpSpPr>
        <p:pic>
          <p:nvPicPr>
            <p:cNvPr id="6" name="Graphic 5">
              <a:extLst>
                <a:ext uri="{FF2B5EF4-FFF2-40B4-BE49-F238E27FC236}">
                  <a16:creationId xmlns:a16="http://schemas.microsoft.com/office/drawing/2014/main" id="{D9DAF80D-4D83-4EA4-3B9A-B4DEAA21CF43}"/>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9321121" y="4418033"/>
              <a:ext cx="897474" cy="355817"/>
            </a:xfrm>
            <a:prstGeom prst="rect">
              <a:avLst/>
            </a:prstGeom>
          </p:spPr>
        </p:pic>
        <p:pic>
          <p:nvPicPr>
            <p:cNvPr id="11" name="Graphic 10" hidden="1">
              <a:extLst>
                <a:ext uri="{FF2B5EF4-FFF2-40B4-BE49-F238E27FC236}">
                  <a16:creationId xmlns:a16="http://schemas.microsoft.com/office/drawing/2014/main" id="{AA1B3EED-0A38-9B4D-C031-B7CFB1F16CD2}"/>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9321121" y="4772874"/>
              <a:ext cx="897474" cy="355817"/>
            </a:xfrm>
            <a:prstGeom prst="rect">
              <a:avLst/>
            </a:prstGeom>
          </p:spPr>
        </p:pic>
        <p:pic>
          <p:nvPicPr>
            <p:cNvPr id="12" name="Graphic 11" hidden="1">
              <a:extLst>
                <a:ext uri="{FF2B5EF4-FFF2-40B4-BE49-F238E27FC236}">
                  <a16:creationId xmlns:a16="http://schemas.microsoft.com/office/drawing/2014/main" id="{D8BA40FF-052F-CEA2-8570-24062BFE0A7B}"/>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rot="16200000">
              <a:off x="9946868" y="4502045"/>
              <a:ext cx="897474" cy="355817"/>
            </a:xfrm>
            <a:prstGeom prst="rect">
              <a:avLst/>
            </a:prstGeom>
          </p:spPr>
        </p:pic>
        <p:pic>
          <p:nvPicPr>
            <p:cNvPr id="13" name="Graphic 12" hidden="1">
              <a:extLst>
                <a:ext uri="{FF2B5EF4-FFF2-40B4-BE49-F238E27FC236}">
                  <a16:creationId xmlns:a16="http://schemas.microsoft.com/office/drawing/2014/main" id="{10305589-4F05-9658-71A7-2F6E7BFE9524}"/>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rot="16200000">
              <a:off x="8694514" y="4502045"/>
              <a:ext cx="897474" cy="355817"/>
            </a:xfrm>
            <a:prstGeom prst="rect">
              <a:avLst/>
            </a:prstGeom>
          </p:spPr>
        </p:pic>
      </p:grpSp>
      <p:pic>
        <p:nvPicPr>
          <p:cNvPr id="14" name="Graphic 13">
            <a:extLst>
              <a:ext uri="{FF2B5EF4-FFF2-40B4-BE49-F238E27FC236}">
                <a16:creationId xmlns:a16="http://schemas.microsoft.com/office/drawing/2014/main" id="{EEFE9B80-1CD0-9614-4D99-C0FA5B74A8B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241053" y="6372101"/>
            <a:ext cx="1630680" cy="247650"/>
          </a:xfrm>
          <a:prstGeom prst="rect">
            <a:avLst/>
          </a:prstGeom>
        </p:spPr>
      </p:pic>
    </p:spTree>
    <p:custDataLst>
      <p:tags r:id="rId1"/>
    </p:custDataLst>
    <p:extLst>
      <p:ext uri="{BB962C8B-B14F-4D97-AF65-F5344CB8AC3E}">
        <p14:creationId xmlns:p14="http://schemas.microsoft.com/office/powerpoint/2010/main" val="37361523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525252"/>
                </a:solidFill>
              </a:defRPr>
            </a:lvl1pPr>
          </a:lstStyle>
          <a:p>
            <a:r>
              <a:rPr lang="en-US"/>
              <a:t>Click to edit Master title style</a:t>
            </a:r>
            <a:endParaRPr lang="en-US" dirty="0"/>
          </a:p>
        </p:txBody>
      </p:sp>
      <p:sp>
        <p:nvSpPr>
          <p:cNvPr id="3" name="Content Placeholder 2"/>
          <p:cNvSpPr>
            <a:spLocks noGrp="1"/>
          </p:cNvSpPr>
          <p:nvPr>
            <p:ph idx="1"/>
          </p:nvPr>
        </p:nvSpPr>
        <p:spPr>
          <a:xfrm>
            <a:off x="838200" y="1600199"/>
            <a:ext cx="10744200" cy="4572000"/>
          </a:xfrm>
        </p:spPr>
        <p:txBody>
          <a:bodyPr/>
          <a:lstStyle>
            <a:lvl1pPr>
              <a:defRPr>
                <a:solidFill>
                  <a:srgbClr val="262626"/>
                </a:solidFill>
              </a:defRPr>
            </a:lvl1pPr>
            <a:lvl2pPr>
              <a:defRPr>
                <a:solidFill>
                  <a:srgbClr val="262626"/>
                </a:solidFill>
              </a:defRPr>
            </a:lvl2pPr>
            <a:lvl3pPr>
              <a:defRPr>
                <a:solidFill>
                  <a:srgbClr val="262626"/>
                </a:solidFill>
              </a:defRPr>
            </a:lvl3pPr>
            <a:lvl4pPr>
              <a:defRPr>
                <a:solidFill>
                  <a:srgbClr val="262626"/>
                </a:solidFill>
              </a:defRPr>
            </a:lvl4pPr>
            <a:lvl5pPr>
              <a:defRPr>
                <a:solidFill>
                  <a:srgbClr val="262626"/>
                </a:solidFill>
              </a:defRPr>
            </a:lvl5pPr>
          </a:lstStyle>
          <a:p>
            <a:pPr lvl="0"/>
            <a:r>
              <a:rPr lang="en-US"/>
              <a:t>Click to edit Master text styles</a:t>
            </a:r>
          </a:p>
          <a:p>
            <a:pPr lvl="1"/>
            <a:r>
              <a:rPr lang="en-US"/>
              <a:t>Second level</a:t>
            </a:r>
          </a:p>
          <a:p>
            <a:pPr lvl="2"/>
            <a:r>
              <a:rPr lang="en-US"/>
              <a:t>Third level</a:t>
            </a:r>
          </a:p>
        </p:txBody>
      </p:sp>
      <p:cxnSp>
        <p:nvCxnSpPr>
          <p:cNvPr id="7" name="Straight Connector 6"/>
          <p:cNvCxnSpPr/>
          <p:nvPr/>
        </p:nvCxnSpPr>
        <p:spPr>
          <a:xfrm>
            <a:off x="838200" y="1296645"/>
            <a:ext cx="10515600" cy="368"/>
          </a:xfrm>
          <a:prstGeom prst="line">
            <a:avLst/>
          </a:prstGeom>
          <a:ln>
            <a:solidFill>
              <a:srgbClr val="6C4DEA"/>
            </a:solidFill>
          </a:ln>
        </p:spPr>
        <p:style>
          <a:lnRef idx="1">
            <a:schemeClr val="accent1"/>
          </a:lnRef>
          <a:fillRef idx="0">
            <a:schemeClr val="accent1"/>
          </a:fillRef>
          <a:effectRef idx="0">
            <a:schemeClr val="accent1"/>
          </a:effectRef>
          <a:fontRef idx="minor">
            <a:schemeClr val="tx1"/>
          </a:fontRef>
        </p:style>
      </p:cxnSp>
    </p:spTree>
    <p:custDataLst>
      <p:tags r:id="rId1"/>
    </p:custDataLst>
    <p:extLst>
      <p:ext uri="{BB962C8B-B14F-4D97-AF65-F5344CB8AC3E}">
        <p14:creationId xmlns:p14="http://schemas.microsoft.com/office/powerpoint/2010/main" val="149702998"/>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1" i="0">
                <a:solidFill>
                  <a:srgbClr val="525252"/>
                </a:solidFill>
                <a:latin typeface="IBM Plex Sans SemiBold" panose="020B0503050203000203" pitchFamily="34" charset="0"/>
              </a:defRPr>
            </a:lvl1pPr>
          </a:lstStyle>
          <a:p>
            <a:r>
              <a:rPr lang="en-US"/>
              <a:t>Click to edit Master title style</a:t>
            </a:r>
            <a:endParaRPr lang="en-US" dirty="0"/>
          </a:p>
        </p:txBody>
      </p:sp>
      <p:sp>
        <p:nvSpPr>
          <p:cNvPr id="3" name="Content Placeholder 2"/>
          <p:cNvSpPr>
            <a:spLocks noGrp="1"/>
          </p:cNvSpPr>
          <p:nvPr>
            <p:ph sz="half" idx="1"/>
          </p:nvPr>
        </p:nvSpPr>
        <p:spPr>
          <a:xfrm>
            <a:off x="838200" y="1600200"/>
            <a:ext cx="5181600" cy="4572000"/>
          </a:xfrm>
        </p:spPr>
        <p:txBody>
          <a:bodyPr/>
          <a:lstStyle>
            <a:lvl1pPr>
              <a:defRPr>
                <a:solidFill>
                  <a:srgbClr val="262626"/>
                </a:solidFill>
              </a:defRPr>
            </a:lvl1pPr>
            <a:lvl2pPr>
              <a:defRPr>
                <a:solidFill>
                  <a:srgbClr val="262626"/>
                </a:solidFill>
              </a:defRPr>
            </a:lvl2pPr>
            <a:lvl3pPr>
              <a:defRPr>
                <a:solidFill>
                  <a:srgbClr val="262626"/>
                </a:solidFill>
              </a:defRPr>
            </a:lvl3pPr>
            <a:lvl4pPr>
              <a:defRPr>
                <a:solidFill>
                  <a:srgbClr val="525252"/>
                </a:solidFill>
              </a:defRPr>
            </a:lvl4pPr>
            <a:lvl5pPr>
              <a:defRPr>
                <a:solidFill>
                  <a:srgbClr val="525252"/>
                </a:solidFill>
              </a:defRPr>
            </a:lvl5pPr>
          </a:lstStyle>
          <a:p>
            <a:pPr lvl="0"/>
            <a:r>
              <a:rPr lang="en-US"/>
              <a:t>Click to edit Master text styles</a:t>
            </a:r>
          </a:p>
          <a:p>
            <a:pPr lvl="1"/>
            <a:r>
              <a:rPr lang="en-US"/>
              <a:t>Second level</a:t>
            </a:r>
          </a:p>
          <a:p>
            <a:pPr lvl="2"/>
            <a:r>
              <a:rPr lang="en-US"/>
              <a:t>Third level</a:t>
            </a:r>
          </a:p>
        </p:txBody>
      </p:sp>
      <p:sp>
        <p:nvSpPr>
          <p:cNvPr id="4" name="Content Placeholder 3"/>
          <p:cNvSpPr>
            <a:spLocks noGrp="1"/>
          </p:cNvSpPr>
          <p:nvPr>
            <p:ph sz="half" idx="2"/>
          </p:nvPr>
        </p:nvSpPr>
        <p:spPr>
          <a:xfrm>
            <a:off x="6172200" y="1600200"/>
            <a:ext cx="5181600" cy="4572000"/>
          </a:xfrm>
        </p:spPr>
        <p:txBody>
          <a:bodyPr/>
          <a:lstStyle>
            <a:lvl1pPr>
              <a:defRPr>
                <a:solidFill>
                  <a:srgbClr val="262626"/>
                </a:solidFill>
              </a:defRPr>
            </a:lvl1pPr>
            <a:lvl2pPr>
              <a:defRPr>
                <a:solidFill>
                  <a:srgbClr val="262626"/>
                </a:solidFill>
              </a:defRPr>
            </a:lvl2pPr>
            <a:lvl3pPr>
              <a:defRPr>
                <a:solidFill>
                  <a:srgbClr val="262626"/>
                </a:solidFill>
              </a:defRPr>
            </a:lvl3pPr>
            <a:lvl4pPr>
              <a:defRPr>
                <a:solidFill>
                  <a:srgbClr val="525252"/>
                </a:solidFill>
              </a:defRPr>
            </a:lvl4pPr>
            <a:lvl5pPr>
              <a:defRPr>
                <a:solidFill>
                  <a:srgbClr val="525252"/>
                </a:solidFill>
              </a:defRPr>
            </a:lvl5pPr>
          </a:lstStyle>
          <a:p>
            <a:pPr lvl="0"/>
            <a:r>
              <a:rPr lang="en-US"/>
              <a:t>Click to edit Master text styles</a:t>
            </a:r>
          </a:p>
          <a:p>
            <a:pPr lvl="1"/>
            <a:r>
              <a:rPr lang="en-US"/>
              <a:t>Second level</a:t>
            </a:r>
          </a:p>
          <a:p>
            <a:pPr lvl="2"/>
            <a:r>
              <a:rPr lang="en-US"/>
              <a:t>Third level</a:t>
            </a:r>
          </a:p>
        </p:txBody>
      </p:sp>
      <p:cxnSp>
        <p:nvCxnSpPr>
          <p:cNvPr id="8" name="Straight Connector 7"/>
          <p:cNvCxnSpPr/>
          <p:nvPr/>
        </p:nvCxnSpPr>
        <p:spPr>
          <a:xfrm>
            <a:off x="838200" y="1364249"/>
            <a:ext cx="10515600" cy="368"/>
          </a:xfrm>
          <a:prstGeom prst="line">
            <a:avLst/>
          </a:prstGeom>
          <a:ln>
            <a:solidFill>
              <a:srgbClr val="6C4DEA"/>
            </a:solidFill>
          </a:ln>
        </p:spPr>
        <p:style>
          <a:lnRef idx="1">
            <a:schemeClr val="accent1"/>
          </a:lnRef>
          <a:fillRef idx="0">
            <a:schemeClr val="accent1"/>
          </a:fillRef>
          <a:effectRef idx="0">
            <a:schemeClr val="accent1"/>
          </a:effectRef>
          <a:fontRef idx="minor">
            <a:schemeClr val="tx1"/>
          </a:fontRef>
        </p:style>
      </p:cxnSp>
    </p:spTree>
    <p:custDataLst>
      <p:tags r:id="rId1"/>
    </p:custDataLst>
    <p:extLst>
      <p:ext uri="{BB962C8B-B14F-4D97-AF65-F5344CB8AC3E}">
        <p14:creationId xmlns:p14="http://schemas.microsoft.com/office/powerpoint/2010/main" val="287134356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Tree>
    <p:custDataLst>
      <p:tags r:id="rId1"/>
    </p:custDataLst>
    <p:extLst>
      <p:ext uri="{BB962C8B-B14F-4D97-AF65-F5344CB8AC3E}">
        <p14:creationId xmlns:p14="http://schemas.microsoft.com/office/powerpoint/2010/main" val="7934645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
        <p:nvSpPr>
          <p:cNvPr id="9" name="Title 1"/>
          <p:cNvSpPr>
            <a:spLocks noGrp="1"/>
          </p:cNvSpPr>
          <p:nvPr>
            <p:ph type="ctrTitle"/>
          </p:nvPr>
        </p:nvSpPr>
        <p:spPr>
          <a:xfrm>
            <a:off x="1524000" y="1122363"/>
            <a:ext cx="9144000" cy="2387600"/>
          </a:xfrm>
        </p:spPr>
        <p:txBody>
          <a:bodyPr anchor="b">
            <a:normAutofit/>
          </a:bodyPr>
          <a:lstStyle>
            <a:lvl1pPr algn="ctr">
              <a:defRPr sz="4800" b="1" i="0">
                <a:solidFill>
                  <a:srgbClr val="525252"/>
                </a:solidFill>
                <a:latin typeface="IBM Plex Sans SemiBold" panose="020B0503050203000203" pitchFamily="34" charset="0"/>
                <a:ea typeface="IBM Plex Sans SemiBold" panose="020B0503050203000203" pitchFamily="34" charset="0"/>
                <a:cs typeface="IBM Plex Sans SemiBold" panose="020B0503050203000203" pitchFamily="34" charset="0"/>
              </a:defRPr>
            </a:lvl1pPr>
          </a:lstStyle>
          <a:p>
            <a:r>
              <a:rPr lang="en-US"/>
              <a:t>Click to edit Master title style</a:t>
            </a:r>
          </a:p>
        </p:txBody>
      </p:sp>
    </p:spTree>
    <p:extLst>
      <p:ext uri="{BB962C8B-B14F-4D97-AF65-F5344CB8AC3E}">
        <p14:creationId xmlns:p14="http://schemas.microsoft.com/office/powerpoint/2010/main" val="11732707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p:cSld name="2_Blank">
    <p:bg>
      <p:bgPr>
        <a:solidFill>
          <a:schemeClr val="bg2"/>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5724694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ags" Target="../tags/tag2.xml"/><Relationship Id="rId13" Type="http://schemas.openxmlformats.org/officeDocument/2006/relationships/image" Target="../media/image4.svg"/><Relationship Id="rId3" Type="http://schemas.openxmlformats.org/officeDocument/2006/relationships/slideLayout" Target="../slideLayouts/slideLayout3.xml"/><Relationship Id="rId7" Type="http://schemas.openxmlformats.org/officeDocument/2006/relationships/theme" Target="../theme/theme1.xml"/><Relationship Id="rId12" Type="http://schemas.openxmlformats.org/officeDocument/2006/relationships/image" Target="../media/image3.sv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2.svg"/><Relationship Id="rId5" Type="http://schemas.openxmlformats.org/officeDocument/2006/relationships/slideLayout" Target="../slideLayouts/slideLayout5.xml"/><Relationship Id="rId10" Type="http://schemas.microsoft.com/office/2007/relationships/hdphoto" Target="../media/hdphoto1.wdp"/><Relationship Id="rId4" Type="http://schemas.openxmlformats.org/officeDocument/2006/relationships/slideLayout" Target="../slideLayouts/slideLayout4.xml"/><Relationship Id="rId9"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47850"/>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p:txBody>
      </p:sp>
      <p:pic>
        <p:nvPicPr>
          <p:cNvPr id="12" name="Picture 11" descr="Text, logo&#10;&#10;Description automatically generated">
            <a:extLst>
              <a:ext uri="{FF2B5EF4-FFF2-40B4-BE49-F238E27FC236}">
                <a16:creationId xmlns:a16="http://schemas.microsoft.com/office/drawing/2014/main" id="{05161552-D656-B925-AB2F-4CA5F6FE7270}"/>
              </a:ext>
            </a:extLst>
          </p:cNvPr>
          <p:cNvPicPr>
            <a:picLocks noChangeAspect="1"/>
          </p:cNvPicPr>
          <p:nvPr userDrawn="1"/>
        </p:nvPicPr>
        <p:blipFill rotWithShape="1">
          <a:blip r:embed="rId9">
            <a:alphaModFix amt="5000"/>
            <a:extLst>
              <a:ext uri="{BEBA8EAE-BF5A-486C-A8C5-ECC9F3942E4B}">
                <a14:imgProps xmlns:a14="http://schemas.microsoft.com/office/drawing/2010/main">
                  <a14:imgLayer r:embed="rId10">
                    <a14:imgEffect>
                      <a14:saturation sat="155000"/>
                    </a14:imgEffect>
                    <a14:imgEffect>
                      <a14:brightnessContrast contrast="-77000"/>
                    </a14:imgEffect>
                  </a14:imgLayer>
                </a14:imgProps>
              </a:ext>
            </a:extLst>
          </a:blip>
          <a:srcRect l="-1923" r="70315"/>
          <a:stretch/>
        </p:blipFill>
        <p:spPr>
          <a:xfrm>
            <a:off x="3345127" y="1418811"/>
            <a:ext cx="5501746" cy="4826130"/>
          </a:xfrm>
          <a:prstGeom prst="rect">
            <a:avLst/>
          </a:prstGeom>
        </p:spPr>
      </p:pic>
      <p:sp>
        <p:nvSpPr>
          <p:cNvPr id="4" name="Rectangle 3">
            <a:extLst>
              <a:ext uri="{FF2B5EF4-FFF2-40B4-BE49-F238E27FC236}">
                <a16:creationId xmlns:a16="http://schemas.microsoft.com/office/drawing/2014/main" id="{AE377BDD-6725-68B2-639C-E47C9B4601F2}"/>
              </a:ext>
            </a:extLst>
          </p:cNvPr>
          <p:cNvSpPr/>
          <p:nvPr userDrawn="1"/>
        </p:nvSpPr>
        <p:spPr>
          <a:xfrm>
            <a:off x="12625444" y="2728308"/>
            <a:ext cx="1235879" cy="1235878"/>
          </a:xfrm>
          <a:prstGeom prst="rect">
            <a:avLst/>
          </a:prstGeom>
          <a:solidFill>
            <a:srgbClr val="BE95FF"/>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262626"/>
                </a:solidFill>
                <a:latin typeface="IBM Plex Sans" panose="020B0503050203000203" pitchFamily="34" charset="0"/>
              </a:rPr>
              <a:t>#BE95FF</a:t>
            </a:r>
          </a:p>
        </p:txBody>
      </p:sp>
      <p:sp>
        <p:nvSpPr>
          <p:cNvPr id="5" name="Rectangle 4">
            <a:extLst>
              <a:ext uri="{FF2B5EF4-FFF2-40B4-BE49-F238E27FC236}">
                <a16:creationId xmlns:a16="http://schemas.microsoft.com/office/drawing/2014/main" id="{18771CE0-19C9-5FCF-1B71-ACF36DEE6664}"/>
              </a:ext>
            </a:extLst>
          </p:cNvPr>
          <p:cNvSpPr/>
          <p:nvPr userDrawn="1"/>
        </p:nvSpPr>
        <p:spPr>
          <a:xfrm>
            <a:off x="18071881" y="2728308"/>
            <a:ext cx="1235879" cy="1235878"/>
          </a:xfrm>
          <a:prstGeom prst="rect">
            <a:avLst/>
          </a:prstGeom>
          <a:solidFill>
            <a:srgbClr val="33B1FF"/>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262626"/>
                </a:solidFill>
                <a:latin typeface="IBM Plex Sans" panose="020B0503050203000203" pitchFamily="34" charset="0"/>
              </a:rPr>
              <a:t>#33B1FF</a:t>
            </a:r>
          </a:p>
        </p:txBody>
      </p:sp>
      <p:sp>
        <p:nvSpPr>
          <p:cNvPr id="6" name="Rectangle 5">
            <a:extLst>
              <a:ext uri="{FF2B5EF4-FFF2-40B4-BE49-F238E27FC236}">
                <a16:creationId xmlns:a16="http://schemas.microsoft.com/office/drawing/2014/main" id="{832A3F44-3AAC-9557-E214-F323108F6B65}"/>
              </a:ext>
            </a:extLst>
          </p:cNvPr>
          <p:cNvSpPr/>
          <p:nvPr userDrawn="1"/>
        </p:nvSpPr>
        <p:spPr>
          <a:xfrm>
            <a:off x="14440923" y="2728308"/>
            <a:ext cx="1235879" cy="1235878"/>
          </a:xfrm>
          <a:prstGeom prst="rect">
            <a:avLst/>
          </a:prstGeom>
          <a:solidFill>
            <a:srgbClr val="FF7EB6"/>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262626"/>
                </a:solidFill>
                <a:latin typeface="IBM Plex Sans" panose="020B0503050203000203" pitchFamily="34" charset="0"/>
              </a:rPr>
              <a:t>#FF7EB6</a:t>
            </a:r>
          </a:p>
        </p:txBody>
      </p:sp>
      <p:sp>
        <p:nvSpPr>
          <p:cNvPr id="9" name="Rectangle 8">
            <a:extLst>
              <a:ext uri="{FF2B5EF4-FFF2-40B4-BE49-F238E27FC236}">
                <a16:creationId xmlns:a16="http://schemas.microsoft.com/office/drawing/2014/main" id="{06EA0613-E945-E437-C733-F9F008F63B76}"/>
              </a:ext>
            </a:extLst>
          </p:cNvPr>
          <p:cNvSpPr/>
          <p:nvPr userDrawn="1"/>
        </p:nvSpPr>
        <p:spPr>
          <a:xfrm>
            <a:off x="16256402" y="2728308"/>
            <a:ext cx="1235879" cy="1235878"/>
          </a:xfrm>
          <a:prstGeom prst="rect">
            <a:avLst/>
          </a:prstGeom>
          <a:solidFill>
            <a:srgbClr val="08BDBA"/>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262626"/>
                </a:solidFill>
                <a:latin typeface="IBM Plex Sans" panose="020B0503050203000203" pitchFamily="34" charset="0"/>
              </a:rPr>
              <a:t>#08BDBA</a:t>
            </a:r>
          </a:p>
        </p:txBody>
      </p:sp>
      <p:sp>
        <p:nvSpPr>
          <p:cNvPr id="10" name="TextBox 9">
            <a:extLst>
              <a:ext uri="{FF2B5EF4-FFF2-40B4-BE49-F238E27FC236}">
                <a16:creationId xmlns:a16="http://schemas.microsoft.com/office/drawing/2014/main" id="{F0EC5687-C25A-A73E-5192-674F560F89FA}"/>
              </a:ext>
            </a:extLst>
          </p:cNvPr>
          <p:cNvSpPr txBox="1"/>
          <p:nvPr userDrawn="1"/>
        </p:nvSpPr>
        <p:spPr>
          <a:xfrm>
            <a:off x="12602453" y="3912427"/>
            <a:ext cx="1237839" cy="369332"/>
          </a:xfrm>
          <a:prstGeom prst="rect">
            <a:avLst/>
          </a:prstGeom>
          <a:noFill/>
        </p:spPr>
        <p:txBody>
          <a:bodyPr wrap="none" rtlCol="0">
            <a:spAutoFit/>
          </a:bodyPr>
          <a:lstStyle/>
          <a:p>
            <a:r>
              <a:rPr lang="en-US" b="1" i="0" dirty="0">
                <a:solidFill>
                  <a:srgbClr val="FFFFFF"/>
                </a:solidFill>
                <a:effectLst/>
              </a:rPr>
              <a:t>Purple 40</a:t>
            </a:r>
            <a:endParaRPr lang="en-US" b="1" dirty="0">
              <a:solidFill>
                <a:srgbClr val="FFFFFF"/>
              </a:solidFill>
            </a:endParaRPr>
          </a:p>
        </p:txBody>
      </p:sp>
      <p:sp>
        <p:nvSpPr>
          <p:cNvPr id="13" name="TextBox 12">
            <a:extLst>
              <a:ext uri="{FF2B5EF4-FFF2-40B4-BE49-F238E27FC236}">
                <a16:creationId xmlns:a16="http://schemas.microsoft.com/office/drawing/2014/main" id="{C31F4021-33FE-506B-3C0D-688FEF669647}"/>
              </a:ext>
            </a:extLst>
          </p:cNvPr>
          <p:cNvSpPr txBox="1"/>
          <p:nvPr userDrawn="1"/>
        </p:nvSpPr>
        <p:spPr>
          <a:xfrm>
            <a:off x="14334144" y="3912427"/>
            <a:ext cx="1449436" cy="369332"/>
          </a:xfrm>
          <a:prstGeom prst="rect">
            <a:avLst/>
          </a:prstGeom>
          <a:noFill/>
        </p:spPr>
        <p:txBody>
          <a:bodyPr wrap="none" rtlCol="0">
            <a:spAutoFit/>
          </a:bodyPr>
          <a:lstStyle/>
          <a:p>
            <a:r>
              <a:rPr lang="en-US" b="1" dirty="0">
                <a:solidFill>
                  <a:srgbClr val="FFFFFF"/>
                </a:solidFill>
              </a:rPr>
              <a:t>Magenta</a:t>
            </a:r>
            <a:r>
              <a:rPr lang="en-US" b="1" i="0" dirty="0">
                <a:solidFill>
                  <a:srgbClr val="FFFFFF"/>
                </a:solidFill>
                <a:effectLst/>
              </a:rPr>
              <a:t> 40</a:t>
            </a:r>
            <a:endParaRPr lang="en-US" b="1" dirty="0">
              <a:solidFill>
                <a:srgbClr val="FFFFFF"/>
              </a:solidFill>
            </a:endParaRPr>
          </a:p>
        </p:txBody>
      </p:sp>
      <p:sp>
        <p:nvSpPr>
          <p:cNvPr id="14" name="TextBox 13">
            <a:extLst>
              <a:ext uri="{FF2B5EF4-FFF2-40B4-BE49-F238E27FC236}">
                <a16:creationId xmlns:a16="http://schemas.microsoft.com/office/drawing/2014/main" id="{586B112C-C780-5B47-83AA-D580E668C866}"/>
              </a:ext>
            </a:extLst>
          </p:cNvPr>
          <p:cNvSpPr txBox="1"/>
          <p:nvPr userDrawn="1"/>
        </p:nvSpPr>
        <p:spPr>
          <a:xfrm>
            <a:off x="16404771" y="3912427"/>
            <a:ext cx="966355" cy="369332"/>
          </a:xfrm>
          <a:prstGeom prst="rect">
            <a:avLst/>
          </a:prstGeom>
          <a:noFill/>
        </p:spPr>
        <p:txBody>
          <a:bodyPr wrap="none" rtlCol="0">
            <a:spAutoFit/>
          </a:bodyPr>
          <a:lstStyle/>
          <a:p>
            <a:r>
              <a:rPr lang="en-US" b="1" dirty="0">
                <a:solidFill>
                  <a:srgbClr val="FFFFFF"/>
                </a:solidFill>
              </a:rPr>
              <a:t>Teal</a:t>
            </a:r>
            <a:r>
              <a:rPr lang="en-US" b="1" i="0" dirty="0">
                <a:solidFill>
                  <a:srgbClr val="FFFFFF"/>
                </a:solidFill>
                <a:effectLst/>
              </a:rPr>
              <a:t> 40</a:t>
            </a:r>
            <a:endParaRPr lang="en-US" b="1" dirty="0">
              <a:solidFill>
                <a:srgbClr val="FFFFFF"/>
              </a:solidFill>
            </a:endParaRPr>
          </a:p>
        </p:txBody>
      </p:sp>
      <p:sp>
        <p:nvSpPr>
          <p:cNvPr id="15" name="TextBox 14">
            <a:extLst>
              <a:ext uri="{FF2B5EF4-FFF2-40B4-BE49-F238E27FC236}">
                <a16:creationId xmlns:a16="http://schemas.microsoft.com/office/drawing/2014/main" id="{D92FC597-9201-21C6-383D-67750826F14D}"/>
              </a:ext>
            </a:extLst>
          </p:cNvPr>
          <p:cNvSpPr txBox="1"/>
          <p:nvPr userDrawn="1"/>
        </p:nvSpPr>
        <p:spPr>
          <a:xfrm>
            <a:off x="18206642" y="3912427"/>
            <a:ext cx="1055097" cy="369332"/>
          </a:xfrm>
          <a:prstGeom prst="rect">
            <a:avLst/>
          </a:prstGeom>
          <a:noFill/>
        </p:spPr>
        <p:txBody>
          <a:bodyPr wrap="none" rtlCol="0">
            <a:spAutoFit/>
          </a:bodyPr>
          <a:lstStyle/>
          <a:p>
            <a:r>
              <a:rPr lang="en-US" b="1" dirty="0">
                <a:solidFill>
                  <a:srgbClr val="FFFFFF"/>
                </a:solidFill>
              </a:rPr>
              <a:t>Cyan</a:t>
            </a:r>
            <a:r>
              <a:rPr lang="en-US" b="1" i="0" dirty="0">
                <a:solidFill>
                  <a:srgbClr val="FFFFFF"/>
                </a:solidFill>
                <a:effectLst/>
              </a:rPr>
              <a:t> 40</a:t>
            </a:r>
            <a:endParaRPr lang="en-US" b="1" dirty="0">
              <a:solidFill>
                <a:srgbClr val="FFFFFF"/>
              </a:solidFill>
            </a:endParaRPr>
          </a:p>
        </p:txBody>
      </p:sp>
      <p:sp>
        <p:nvSpPr>
          <p:cNvPr id="16" name="Rectangle 15">
            <a:extLst>
              <a:ext uri="{FF2B5EF4-FFF2-40B4-BE49-F238E27FC236}">
                <a16:creationId xmlns:a16="http://schemas.microsoft.com/office/drawing/2014/main" id="{6B4A6D56-917B-72D3-81F7-A59A36FC4198}"/>
              </a:ext>
            </a:extLst>
          </p:cNvPr>
          <p:cNvSpPr/>
          <p:nvPr userDrawn="1"/>
        </p:nvSpPr>
        <p:spPr>
          <a:xfrm>
            <a:off x="12625444" y="4418033"/>
            <a:ext cx="1235879" cy="1235878"/>
          </a:xfrm>
          <a:prstGeom prst="rect">
            <a:avLst/>
          </a:prstGeom>
          <a:solidFill>
            <a:srgbClr val="8A3FFC"/>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2"/>
                </a:solidFill>
                <a:latin typeface="IBM Plex Sans" panose="020B0503050203000203" pitchFamily="34" charset="0"/>
              </a:rPr>
              <a:t>#8A3FFC</a:t>
            </a:r>
          </a:p>
        </p:txBody>
      </p:sp>
      <p:sp>
        <p:nvSpPr>
          <p:cNvPr id="17" name="Rectangle 16">
            <a:extLst>
              <a:ext uri="{FF2B5EF4-FFF2-40B4-BE49-F238E27FC236}">
                <a16:creationId xmlns:a16="http://schemas.microsoft.com/office/drawing/2014/main" id="{49512372-0859-45E3-8DD7-AE730B4AFD19}"/>
              </a:ext>
            </a:extLst>
          </p:cNvPr>
          <p:cNvSpPr/>
          <p:nvPr userDrawn="1"/>
        </p:nvSpPr>
        <p:spPr>
          <a:xfrm>
            <a:off x="18071881" y="4418033"/>
            <a:ext cx="1235879" cy="1235878"/>
          </a:xfrm>
          <a:prstGeom prst="rect">
            <a:avLst/>
          </a:prstGeom>
          <a:solidFill>
            <a:srgbClr val="0072C3"/>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2"/>
                </a:solidFill>
                <a:latin typeface="IBM Plex Sans" panose="020B0503050203000203" pitchFamily="34" charset="0"/>
              </a:rPr>
              <a:t>#0072C3</a:t>
            </a:r>
          </a:p>
        </p:txBody>
      </p:sp>
      <p:sp>
        <p:nvSpPr>
          <p:cNvPr id="18" name="Rectangle 17">
            <a:extLst>
              <a:ext uri="{FF2B5EF4-FFF2-40B4-BE49-F238E27FC236}">
                <a16:creationId xmlns:a16="http://schemas.microsoft.com/office/drawing/2014/main" id="{A4197D57-5F46-DB39-F81D-9205CC53189F}"/>
              </a:ext>
            </a:extLst>
          </p:cNvPr>
          <p:cNvSpPr/>
          <p:nvPr userDrawn="1"/>
        </p:nvSpPr>
        <p:spPr>
          <a:xfrm>
            <a:off x="14440923" y="4418033"/>
            <a:ext cx="1235879" cy="1235878"/>
          </a:xfrm>
          <a:prstGeom prst="rect">
            <a:avLst/>
          </a:prstGeom>
          <a:solidFill>
            <a:srgbClr val="D02670"/>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2"/>
                </a:solidFill>
                <a:latin typeface="IBM Plex Sans" panose="020B0503050203000203" pitchFamily="34" charset="0"/>
              </a:rPr>
              <a:t>#D02670</a:t>
            </a:r>
          </a:p>
        </p:txBody>
      </p:sp>
      <p:sp>
        <p:nvSpPr>
          <p:cNvPr id="19" name="Rectangle 18">
            <a:extLst>
              <a:ext uri="{FF2B5EF4-FFF2-40B4-BE49-F238E27FC236}">
                <a16:creationId xmlns:a16="http://schemas.microsoft.com/office/drawing/2014/main" id="{570AA9B1-D6E7-98E2-49EF-C98B6F0E7E2F}"/>
              </a:ext>
            </a:extLst>
          </p:cNvPr>
          <p:cNvSpPr/>
          <p:nvPr userDrawn="1"/>
        </p:nvSpPr>
        <p:spPr>
          <a:xfrm>
            <a:off x="16256402" y="4418033"/>
            <a:ext cx="1235879" cy="1235878"/>
          </a:xfrm>
          <a:prstGeom prst="rect">
            <a:avLst/>
          </a:prstGeom>
          <a:solidFill>
            <a:srgbClr val="007D79"/>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2"/>
                </a:solidFill>
                <a:latin typeface="IBM Plex Sans" panose="020B0503050203000203" pitchFamily="34" charset="0"/>
              </a:rPr>
              <a:t>#007D79</a:t>
            </a:r>
          </a:p>
        </p:txBody>
      </p:sp>
      <p:sp>
        <p:nvSpPr>
          <p:cNvPr id="20" name="TextBox 19">
            <a:extLst>
              <a:ext uri="{FF2B5EF4-FFF2-40B4-BE49-F238E27FC236}">
                <a16:creationId xmlns:a16="http://schemas.microsoft.com/office/drawing/2014/main" id="{B0A9DFA7-88D2-04F7-451C-7A2C388B178F}"/>
              </a:ext>
            </a:extLst>
          </p:cNvPr>
          <p:cNvSpPr txBox="1"/>
          <p:nvPr userDrawn="1"/>
        </p:nvSpPr>
        <p:spPr>
          <a:xfrm>
            <a:off x="12602453" y="5602152"/>
            <a:ext cx="1237839" cy="369332"/>
          </a:xfrm>
          <a:prstGeom prst="rect">
            <a:avLst/>
          </a:prstGeom>
          <a:noFill/>
        </p:spPr>
        <p:txBody>
          <a:bodyPr wrap="none" rtlCol="0">
            <a:spAutoFit/>
          </a:bodyPr>
          <a:lstStyle/>
          <a:p>
            <a:r>
              <a:rPr lang="en-US" b="1" i="0" dirty="0">
                <a:solidFill>
                  <a:srgbClr val="FFFFFF"/>
                </a:solidFill>
                <a:effectLst/>
              </a:rPr>
              <a:t>Purple 60</a:t>
            </a:r>
            <a:endParaRPr lang="en-US" b="1" dirty="0">
              <a:solidFill>
                <a:srgbClr val="FFFFFF"/>
              </a:solidFill>
            </a:endParaRPr>
          </a:p>
        </p:txBody>
      </p:sp>
      <p:sp>
        <p:nvSpPr>
          <p:cNvPr id="21" name="TextBox 20">
            <a:extLst>
              <a:ext uri="{FF2B5EF4-FFF2-40B4-BE49-F238E27FC236}">
                <a16:creationId xmlns:a16="http://schemas.microsoft.com/office/drawing/2014/main" id="{92C98F8E-1DCD-3647-3613-DFFC7CDFF372}"/>
              </a:ext>
            </a:extLst>
          </p:cNvPr>
          <p:cNvSpPr txBox="1"/>
          <p:nvPr userDrawn="1"/>
        </p:nvSpPr>
        <p:spPr>
          <a:xfrm>
            <a:off x="14334144" y="5602152"/>
            <a:ext cx="1448025" cy="369332"/>
          </a:xfrm>
          <a:prstGeom prst="rect">
            <a:avLst/>
          </a:prstGeom>
          <a:noFill/>
        </p:spPr>
        <p:txBody>
          <a:bodyPr wrap="none" rtlCol="0">
            <a:spAutoFit/>
          </a:bodyPr>
          <a:lstStyle/>
          <a:p>
            <a:r>
              <a:rPr lang="en-US" b="1" dirty="0">
                <a:solidFill>
                  <a:srgbClr val="FFFFFF"/>
                </a:solidFill>
              </a:rPr>
              <a:t>Magenta</a:t>
            </a:r>
            <a:r>
              <a:rPr lang="en-US" b="1" i="0" dirty="0">
                <a:solidFill>
                  <a:srgbClr val="FFFFFF"/>
                </a:solidFill>
                <a:effectLst/>
              </a:rPr>
              <a:t> 60</a:t>
            </a:r>
            <a:endParaRPr lang="en-US" b="1" dirty="0">
              <a:solidFill>
                <a:srgbClr val="FFFFFF"/>
              </a:solidFill>
            </a:endParaRPr>
          </a:p>
        </p:txBody>
      </p:sp>
      <p:sp>
        <p:nvSpPr>
          <p:cNvPr id="22" name="TextBox 21">
            <a:extLst>
              <a:ext uri="{FF2B5EF4-FFF2-40B4-BE49-F238E27FC236}">
                <a16:creationId xmlns:a16="http://schemas.microsoft.com/office/drawing/2014/main" id="{129F1073-373D-249D-C1F2-A527EB0210C9}"/>
              </a:ext>
            </a:extLst>
          </p:cNvPr>
          <p:cNvSpPr txBox="1"/>
          <p:nvPr userDrawn="1"/>
        </p:nvSpPr>
        <p:spPr>
          <a:xfrm>
            <a:off x="16404771" y="5602152"/>
            <a:ext cx="966931" cy="369332"/>
          </a:xfrm>
          <a:prstGeom prst="rect">
            <a:avLst/>
          </a:prstGeom>
          <a:noFill/>
        </p:spPr>
        <p:txBody>
          <a:bodyPr wrap="none" rtlCol="0">
            <a:spAutoFit/>
          </a:bodyPr>
          <a:lstStyle/>
          <a:p>
            <a:r>
              <a:rPr lang="en-US" b="1" dirty="0">
                <a:solidFill>
                  <a:srgbClr val="FFFFFF"/>
                </a:solidFill>
              </a:rPr>
              <a:t>Teal</a:t>
            </a:r>
            <a:r>
              <a:rPr lang="en-US" b="1" i="0" dirty="0">
                <a:solidFill>
                  <a:srgbClr val="FFFFFF"/>
                </a:solidFill>
                <a:effectLst/>
              </a:rPr>
              <a:t> 60</a:t>
            </a:r>
            <a:endParaRPr lang="en-US" b="1" dirty="0">
              <a:solidFill>
                <a:srgbClr val="FFFFFF"/>
              </a:solidFill>
            </a:endParaRPr>
          </a:p>
        </p:txBody>
      </p:sp>
      <p:sp>
        <p:nvSpPr>
          <p:cNvPr id="23" name="TextBox 22">
            <a:extLst>
              <a:ext uri="{FF2B5EF4-FFF2-40B4-BE49-F238E27FC236}">
                <a16:creationId xmlns:a16="http://schemas.microsoft.com/office/drawing/2014/main" id="{0D12B31A-8903-A616-B756-B8695FC8F38A}"/>
              </a:ext>
            </a:extLst>
          </p:cNvPr>
          <p:cNvSpPr txBox="1"/>
          <p:nvPr userDrawn="1"/>
        </p:nvSpPr>
        <p:spPr>
          <a:xfrm>
            <a:off x="18206642" y="5602152"/>
            <a:ext cx="1055097" cy="369332"/>
          </a:xfrm>
          <a:prstGeom prst="rect">
            <a:avLst/>
          </a:prstGeom>
          <a:noFill/>
        </p:spPr>
        <p:txBody>
          <a:bodyPr wrap="none" rtlCol="0">
            <a:spAutoFit/>
          </a:bodyPr>
          <a:lstStyle/>
          <a:p>
            <a:r>
              <a:rPr lang="en-US" b="1" dirty="0">
                <a:solidFill>
                  <a:srgbClr val="FFFFFF"/>
                </a:solidFill>
              </a:rPr>
              <a:t>Cyan</a:t>
            </a:r>
            <a:r>
              <a:rPr lang="en-US" b="1" i="0" dirty="0">
                <a:solidFill>
                  <a:srgbClr val="FFFFFF"/>
                </a:solidFill>
                <a:effectLst/>
              </a:rPr>
              <a:t> 60</a:t>
            </a:r>
            <a:endParaRPr lang="en-US" b="1" dirty="0">
              <a:solidFill>
                <a:srgbClr val="FFFFFF"/>
              </a:solidFill>
            </a:endParaRPr>
          </a:p>
        </p:txBody>
      </p:sp>
      <p:sp>
        <p:nvSpPr>
          <p:cNvPr id="24" name="Rectangle 23">
            <a:extLst>
              <a:ext uri="{FF2B5EF4-FFF2-40B4-BE49-F238E27FC236}">
                <a16:creationId xmlns:a16="http://schemas.microsoft.com/office/drawing/2014/main" id="{61892CDF-E500-AD18-C0DB-5405AF35ADE4}"/>
              </a:ext>
            </a:extLst>
          </p:cNvPr>
          <p:cNvSpPr/>
          <p:nvPr userDrawn="1"/>
        </p:nvSpPr>
        <p:spPr>
          <a:xfrm>
            <a:off x="19512379" y="2712316"/>
            <a:ext cx="1267863" cy="1267862"/>
          </a:xfrm>
          <a:prstGeom prst="rect">
            <a:avLst/>
          </a:prstGeom>
          <a:solidFill>
            <a:srgbClr val="121619"/>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solidFill>
                  <a:schemeClr val="bg2"/>
                </a:solidFill>
                <a:latin typeface="IBM Plex Sans" panose="020B0503050203000203" pitchFamily="34" charset="0"/>
              </a:rPr>
              <a:t>Icon</a:t>
            </a:r>
          </a:p>
          <a:p>
            <a:pPr algn="ctr"/>
            <a:r>
              <a:rPr lang="en-US" dirty="0">
                <a:solidFill>
                  <a:schemeClr val="bg2"/>
                </a:solidFill>
                <a:latin typeface="IBM Plex Sans" panose="020B0503050203000203" pitchFamily="34" charset="0"/>
              </a:rPr>
              <a:t>#</a:t>
            </a:r>
            <a:r>
              <a:rPr lang="en-US" b="0" i="0" dirty="0">
                <a:solidFill>
                  <a:srgbClr val="FFFFFF"/>
                </a:solidFill>
                <a:effectLst/>
                <a:latin typeface="IBM Plex Mono" panose="020B0509050203000203" pitchFamily="49" charset="0"/>
              </a:rPr>
              <a:t>000000</a:t>
            </a:r>
            <a:endParaRPr lang="en-US" dirty="0">
              <a:solidFill>
                <a:schemeClr val="bg2"/>
              </a:solidFill>
              <a:latin typeface="IBM Plex Sans" panose="020B0503050203000203" pitchFamily="34" charset="0"/>
            </a:endParaRPr>
          </a:p>
        </p:txBody>
      </p:sp>
      <p:sp>
        <p:nvSpPr>
          <p:cNvPr id="25" name="Rectangle 24">
            <a:extLst>
              <a:ext uri="{FF2B5EF4-FFF2-40B4-BE49-F238E27FC236}">
                <a16:creationId xmlns:a16="http://schemas.microsoft.com/office/drawing/2014/main" id="{FACF072D-B1FC-4829-B71E-556F57965D46}"/>
              </a:ext>
            </a:extLst>
          </p:cNvPr>
          <p:cNvSpPr/>
          <p:nvPr userDrawn="1"/>
        </p:nvSpPr>
        <p:spPr>
          <a:xfrm>
            <a:off x="19510690" y="4403963"/>
            <a:ext cx="1264019" cy="1264018"/>
          </a:xfrm>
          <a:prstGeom prst="rect">
            <a:avLst/>
          </a:prstGeom>
          <a:solidFill>
            <a:srgbClr val="FFFFFF"/>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solidFill>
                  <a:srgbClr val="262626"/>
                </a:solidFill>
                <a:latin typeface="IBM Plex Sans" panose="020B0503050203000203" pitchFamily="34" charset="0"/>
              </a:rPr>
              <a:t>Icon</a:t>
            </a:r>
          </a:p>
          <a:p>
            <a:pPr algn="ctr"/>
            <a:r>
              <a:rPr lang="en-US" dirty="0">
                <a:solidFill>
                  <a:srgbClr val="262626"/>
                </a:solidFill>
                <a:latin typeface="IBM Plex Sans" panose="020B0503050203000203" pitchFamily="34" charset="0"/>
              </a:rPr>
              <a:t>#</a:t>
            </a:r>
            <a:r>
              <a:rPr lang="en-US" b="0" i="0" dirty="0">
                <a:solidFill>
                  <a:srgbClr val="262626"/>
                </a:solidFill>
                <a:effectLst/>
                <a:latin typeface="IBM Plex Mono" panose="020B0509050203000203" pitchFamily="49" charset="0"/>
              </a:rPr>
              <a:t>FFFFFF</a:t>
            </a:r>
            <a:endParaRPr lang="en-US" dirty="0">
              <a:solidFill>
                <a:srgbClr val="262626"/>
              </a:solidFill>
              <a:latin typeface="IBM Plex Sans" panose="020B0503050203000203" pitchFamily="34" charset="0"/>
            </a:endParaRPr>
          </a:p>
        </p:txBody>
      </p:sp>
      <p:sp>
        <p:nvSpPr>
          <p:cNvPr id="26" name="Rectangle 25">
            <a:extLst>
              <a:ext uri="{FF2B5EF4-FFF2-40B4-BE49-F238E27FC236}">
                <a16:creationId xmlns:a16="http://schemas.microsoft.com/office/drawing/2014/main" id="{398BBA60-CCFF-F95A-ECC9-46204EA2214B}"/>
              </a:ext>
            </a:extLst>
          </p:cNvPr>
          <p:cNvSpPr/>
          <p:nvPr userDrawn="1"/>
        </p:nvSpPr>
        <p:spPr>
          <a:xfrm>
            <a:off x="12625444" y="1072749"/>
            <a:ext cx="1235879" cy="1235878"/>
          </a:xfrm>
          <a:prstGeom prst="rect">
            <a:avLst/>
          </a:prstGeom>
          <a:solidFill>
            <a:srgbClr val="F6F2FF"/>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262626"/>
                </a:solidFill>
                <a:latin typeface="IBM Plex Sans" panose="020B0503050203000203" pitchFamily="34" charset="0"/>
              </a:rPr>
              <a:t>#F6F2FF</a:t>
            </a:r>
          </a:p>
        </p:txBody>
      </p:sp>
      <p:sp>
        <p:nvSpPr>
          <p:cNvPr id="27" name="Rectangle 26">
            <a:extLst>
              <a:ext uri="{FF2B5EF4-FFF2-40B4-BE49-F238E27FC236}">
                <a16:creationId xmlns:a16="http://schemas.microsoft.com/office/drawing/2014/main" id="{63F05CFF-A449-FBB3-5F13-F7A72C2E43DE}"/>
              </a:ext>
            </a:extLst>
          </p:cNvPr>
          <p:cNvSpPr/>
          <p:nvPr userDrawn="1"/>
        </p:nvSpPr>
        <p:spPr>
          <a:xfrm>
            <a:off x="18071881" y="1072749"/>
            <a:ext cx="1235879" cy="1235878"/>
          </a:xfrm>
          <a:prstGeom prst="rect">
            <a:avLst/>
          </a:prstGeom>
          <a:solidFill>
            <a:srgbClr val="E5F6FF"/>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262626"/>
                </a:solidFill>
                <a:latin typeface="IBM Plex Sans" panose="020B0503050203000203" pitchFamily="34" charset="0"/>
              </a:rPr>
              <a:t>#E5F6FF</a:t>
            </a:r>
          </a:p>
        </p:txBody>
      </p:sp>
      <p:sp>
        <p:nvSpPr>
          <p:cNvPr id="28" name="Rectangle 27">
            <a:extLst>
              <a:ext uri="{FF2B5EF4-FFF2-40B4-BE49-F238E27FC236}">
                <a16:creationId xmlns:a16="http://schemas.microsoft.com/office/drawing/2014/main" id="{A4895BC4-B52A-2D00-62C1-71A44604BBB4}"/>
              </a:ext>
            </a:extLst>
          </p:cNvPr>
          <p:cNvSpPr/>
          <p:nvPr userDrawn="1"/>
        </p:nvSpPr>
        <p:spPr>
          <a:xfrm>
            <a:off x="14440923" y="1072749"/>
            <a:ext cx="1235879" cy="1235878"/>
          </a:xfrm>
          <a:prstGeom prst="rect">
            <a:avLst/>
          </a:prstGeom>
          <a:solidFill>
            <a:srgbClr val="FFF0F7"/>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262626"/>
                </a:solidFill>
                <a:latin typeface="IBM Plex Sans" panose="020B0503050203000203" pitchFamily="34" charset="0"/>
              </a:rPr>
              <a:t>#FFF0F7</a:t>
            </a:r>
          </a:p>
        </p:txBody>
      </p:sp>
      <p:sp>
        <p:nvSpPr>
          <p:cNvPr id="29" name="Rectangle 28">
            <a:extLst>
              <a:ext uri="{FF2B5EF4-FFF2-40B4-BE49-F238E27FC236}">
                <a16:creationId xmlns:a16="http://schemas.microsoft.com/office/drawing/2014/main" id="{F5B5B6C5-97CB-45FD-FDEC-1F5C2A0BDC3E}"/>
              </a:ext>
            </a:extLst>
          </p:cNvPr>
          <p:cNvSpPr/>
          <p:nvPr userDrawn="1"/>
        </p:nvSpPr>
        <p:spPr>
          <a:xfrm>
            <a:off x="16256402" y="1072749"/>
            <a:ext cx="1235879" cy="1235878"/>
          </a:xfrm>
          <a:prstGeom prst="rect">
            <a:avLst/>
          </a:prstGeom>
          <a:solidFill>
            <a:srgbClr val="D9FBFB"/>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262626"/>
                </a:solidFill>
                <a:latin typeface="IBM Plex Sans" panose="020B0503050203000203" pitchFamily="34" charset="0"/>
              </a:rPr>
              <a:t>#D9FBFB</a:t>
            </a:r>
          </a:p>
        </p:txBody>
      </p:sp>
      <p:sp>
        <p:nvSpPr>
          <p:cNvPr id="30" name="TextBox 29">
            <a:extLst>
              <a:ext uri="{FF2B5EF4-FFF2-40B4-BE49-F238E27FC236}">
                <a16:creationId xmlns:a16="http://schemas.microsoft.com/office/drawing/2014/main" id="{94DCC439-D448-E0FC-26EF-94C7A8B8D0DB}"/>
              </a:ext>
            </a:extLst>
          </p:cNvPr>
          <p:cNvSpPr txBox="1"/>
          <p:nvPr userDrawn="1"/>
        </p:nvSpPr>
        <p:spPr>
          <a:xfrm>
            <a:off x="12602453" y="2256868"/>
            <a:ext cx="1237839" cy="369332"/>
          </a:xfrm>
          <a:prstGeom prst="rect">
            <a:avLst/>
          </a:prstGeom>
          <a:noFill/>
        </p:spPr>
        <p:txBody>
          <a:bodyPr wrap="none" rtlCol="0">
            <a:spAutoFit/>
          </a:bodyPr>
          <a:lstStyle/>
          <a:p>
            <a:r>
              <a:rPr lang="en-US" b="1" i="0" dirty="0">
                <a:solidFill>
                  <a:srgbClr val="FFFFFF"/>
                </a:solidFill>
                <a:effectLst/>
              </a:rPr>
              <a:t>Purple 10</a:t>
            </a:r>
            <a:endParaRPr lang="en-US" b="1" dirty="0">
              <a:solidFill>
                <a:srgbClr val="FFFFFF"/>
              </a:solidFill>
            </a:endParaRPr>
          </a:p>
        </p:txBody>
      </p:sp>
      <p:sp>
        <p:nvSpPr>
          <p:cNvPr id="31" name="TextBox 30">
            <a:extLst>
              <a:ext uri="{FF2B5EF4-FFF2-40B4-BE49-F238E27FC236}">
                <a16:creationId xmlns:a16="http://schemas.microsoft.com/office/drawing/2014/main" id="{004B7B48-2E66-50BA-96FE-D24C4E60BFD7}"/>
              </a:ext>
            </a:extLst>
          </p:cNvPr>
          <p:cNvSpPr txBox="1"/>
          <p:nvPr userDrawn="1"/>
        </p:nvSpPr>
        <p:spPr>
          <a:xfrm>
            <a:off x="14334144" y="2256868"/>
            <a:ext cx="1449436" cy="369332"/>
          </a:xfrm>
          <a:prstGeom prst="rect">
            <a:avLst/>
          </a:prstGeom>
          <a:noFill/>
        </p:spPr>
        <p:txBody>
          <a:bodyPr wrap="none" rtlCol="0">
            <a:spAutoFit/>
          </a:bodyPr>
          <a:lstStyle/>
          <a:p>
            <a:r>
              <a:rPr lang="en-US" b="1" dirty="0">
                <a:solidFill>
                  <a:srgbClr val="FFFFFF"/>
                </a:solidFill>
              </a:rPr>
              <a:t>Magenta</a:t>
            </a:r>
            <a:r>
              <a:rPr lang="en-US" b="1" i="0" dirty="0">
                <a:solidFill>
                  <a:srgbClr val="FFFFFF"/>
                </a:solidFill>
                <a:effectLst/>
              </a:rPr>
              <a:t> 10</a:t>
            </a:r>
            <a:endParaRPr lang="en-US" b="1" dirty="0">
              <a:solidFill>
                <a:srgbClr val="FFFFFF"/>
              </a:solidFill>
            </a:endParaRPr>
          </a:p>
        </p:txBody>
      </p:sp>
      <p:sp>
        <p:nvSpPr>
          <p:cNvPr id="32" name="TextBox 31">
            <a:extLst>
              <a:ext uri="{FF2B5EF4-FFF2-40B4-BE49-F238E27FC236}">
                <a16:creationId xmlns:a16="http://schemas.microsoft.com/office/drawing/2014/main" id="{07C767BF-EB72-86A2-DBA6-0D26C6C02894}"/>
              </a:ext>
            </a:extLst>
          </p:cNvPr>
          <p:cNvSpPr txBox="1"/>
          <p:nvPr userDrawn="1"/>
        </p:nvSpPr>
        <p:spPr>
          <a:xfrm>
            <a:off x="16404771" y="2256868"/>
            <a:ext cx="966355" cy="369332"/>
          </a:xfrm>
          <a:prstGeom prst="rect">
            <a:avLst/>
          </a:prstGeom>
          <a:noFill/>
        </p:spPr>
        <p:txBody>
          <a:bodyPr wrap="none" rtlCol="0">
            <a:spAutoFit/>
          </a:bodyPr>
          <a:lstStyle/>
          <a:p>
            <a:r>
              <a:rPr lang="en-US" b="1" dirty="0">
                <a:solidFill>
                  <a:srgbClr val="FFFFFF"/>
                </a:solidFill>
              </a:rPr>
              <a:t>Teal</a:t>
            </a:r>
            <a:r>
              <a:rPr lang="en-US" b="1" i="0" dirty="0">
                <a:solidFill>
                  <a:srgbClr val="FFFFFF"/>
                </a:solidFill>
                <a:effectLst/>
              </a:rPr>
              <a:t> 10</a:t>
            </a:r>
            <a:endParaRPr lang="en-US" b="1" dirty="0">
              <a:solidFill>
                <a:srgbClr val="FFFFFF"/>
              </a:solidFill>
            </a:endParaRPr>
          </a:p>
        </p:txBody>
      </p:sp>
      <p:sp>
        <p:nvSpPr>
          <p:cNvPr id="33" name="TextBox 32">
            <a:extLst>
              <a:ext uri="{FF2B5EF4-FFF2-40B4-BE49-F238E27FC236}">
                <a16:creationId xmlns:a16="http://schemas.microsoft.com/office/drawing/2014/main" id="{BFEDF829-6CB0-F03B-E025-85D510B4DC26}"/>
              </a:ext>
            </a:extLst>
          </p:cNvPr>
          <p:cNvSpPr txBox="1"/>
          <p:nvPr userDrawn="1"/>
        </p:nvSpPr>
        <p:spPr>
          <a:xfrm>
            <a:off x="18206642" y="2256868"/>
            <a:ext cx="1055097" cy="369332"/>
          </a:xfrm>
          <a:prstGeom prst="rect">
            <a:avLst/>
          </a:prstGeom>
          <a:noFill/>
        </p:spPr>
        <p:txBody>
          <a:bodyPr wrap="none" rtlCol="0">
            <a:spAutoFit/>
          </a:bodyPr>
          <a:lstStyle/>
          <a:p>
            <a:r>
              <a:rPr lang="en-US" b="1" dirty="0">
                <a:solidFill>
                  <a:srgbClr val="FFFFFF"/>
                </a:solidFill>
              </a:rPr>
              <a:t>Cyan</a:t>
            </a:r>
            <a:r>
              <a:rPr lang="en-US" b="1" i="0" dirty="0">
                <a:solidFill>
                  <a:srgbClr val="FFFFFF"/>
                </a:solidFill>
                <a:effectLst/>
              </a:rPr>
              <a:t> 10</a:t>
            </a:r>
            <a:endParaRPr lang="en-US" b="1" dirty="0">
              <a:solidFill>
                <a:srgbClr val="FFFFFF"/>
              </a:solidFill>
            </a:endParaRPr>
          </a:p>
        </p:txBody>
      </p:sp>
      <p:sp>
        <p:nvSpPr>
          <p:cNvPr id="34" name="Rectangle 33">
            <a:extLst>
              <a:ext uri="{FF2B5EF4-FFF2-40B4-BE49-F238E27FC236}">
                <a16:creationId xmlns:a16="http://schemas.microsoft.com/office/drawing/2014/main" id="{7FF97BF5-A64D-02F2-4B04-BC95CE39DF3F}"/>
              </a:ext>
            </a:extLst>
          </p:cNvPr>
          <p:cNvSpPr/>
          <p:nvPr userDrawn="1"/>
        </p:nvSpPr>
        <p:spPr>
          <a:xfrm>
            <a:off x="16222135" y="-2341897"/>
            <a:ext cx="1267863" cy="1267862"/>
          </a:xfrm>
          <a:prstGeom prst="rect">
            <a:avLst/>
          </a:prstGeom>
          <a:solidFill>
            <a:srgbClr val="C1C7CD"/>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solidFill>
                  <a:schemeClr val="tx1"/>
                </a:solidFill>
                <a:latin typeface="IBM Plex Sans" panose="020B0503050203000203" pitchFamily="34" charset="0"/>
              </a:rPr>
              <a:t>Text BG</a:t>
            </a:r>
          </a:p>
          <a:p>
            <a:pPr algn="ctr"/>
            <a:r>
              <a:rPr lang="en-US" dirty="0">
                <a:solidFill>
                  <a:schemeClr val="tx1"/>
                </a:solidFill>
                <a:latin typeface="IBM Plex Sans" panose="020B0503050203000203" pitchFamily="34" charset="0"/>
              </a:rPr>
              <a:t>#C1C7CD</a:t>
            </a:r>
          </a:p>
        </p:txBody>
      </p:sp>
      <p:sp>
        <p:nvSpPr>
          <p:cNvPr id="37" name="Rectangle 36">
            <a:extLst>
              <a:ext uri="{FF2B5EF4-FFF2-40B4-BE49-F238E27FC236}">
                <a16:creationId xmlns:a16="http://schemas.microsoft.com/office/drawing/2014/main" id="{63738F9B-27C5-3C49-8FD7-0731EE9AC3BF}"/>
              </a:ext>
            </a:extLst>
          </p:cNvPr>
          <p:cNvSpPr/>
          <p:nvPr userDrawn="1"/>
        </p:nvSpPr>
        <p:spPr>
          <a:xfrm>
            <a:off x="16222135" y="-801901"/>
            <a:ext cx="1267863" cy="1267862"/>
          </a:xfrm>
          <a:prstGeom prst="rect">
            <a:avLst/>
          </a:prstGeom>
          <a:solidFill>
            <a:srgbClr val="F2F4F8"/>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solidFill>
                  <a:schemeClr val="tx1"/>
                </a:solidFill>
                <a:latin typeface="IBM Plex Sans" panose="020B0503050203000203" pitchFamily="34" charset="0"/>
              </a:rPr>
              <a:t>Text BG</a:t>
            </a:r>
          </a:p>
          <a:p>
            <a:pPr algn="ctr"/>
            <a:r>
              <a:rPr lang="en-US" dirty="0">
                <a:solidFill>
                  <a:schemeClr val="tx1"/>
                </a:solidFill>
                <a:latin typeface="IBM Plex Sans" panose="020B0503050203000203" pitchFamily="34" charset="0"/>
              </a:rPr>
              <a:t>#F2F4F8</a:t>
            </a:r>
          </a:p>
        </p:txBody>
      </p:sp>
      <p:sp>
        <p:nvSpPr>
          <p:cNvPr id="38" name="Rectangle 37">
            <a:extLst>
              <a:ext uri="{FF2B5EF4-FFF2-40B4-BE49-F238E27FC236}">
                <a16:creationId xmlns:a16="http://schemas.microsoft.com/office/drawing/2014/main" id="{A7194F16-D83C-3057-9151-A884EA8F0931}"/>
              </a:ext>
            </a:extLst>
          </p:cNvPr>
          <p:cNvSpPr/>
          <p:nvPr userDrawn="1"/>
        </p:nvSpPr>
        <p:spPr>
          <a:xfrm>
            <a:off x="14397282" y="-2352139"/>
            <a:ext cx="1267863" cy="1267862"/>
          </a:xfrm>
          <a:prstGeom prst="rect">
            <a:avLst/>
          </a:prstGeom>
          <a:solidFill>
            <a:srgbClr val="BE95FF"/>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solidFill>
                  <a:schemeClr val="tx1"/>
                </a:solidFill>
                <a:latin typeface="IBM Plex Sans" panose="020B0503050203000203" pitchFamily="34" charset="0"/>
              </a:rPr>
              <a:t>Text BG</a:t>
            </a:r>
          </a:p>
          <a:p>
            <a:pPr algn="ctr"/>
            <a:r>
              <a:rPr lang="en-US" dirty="0">
                <a:solidFill>
                  <a:schemeClr val="tx1"/>
                </a:solidFill>
                <a:latin typeface="IBM Plex Sans" panose="020B0503050203000203" pitchFamily="34" charset="0"/>
              </a:rPr>
              <a:t>#BE95FF</a:t>
            </a:r>
          </a:p>
        </p:txBody>
      </p:sp>
      <p:sp>
        <p:nvSpPr>
          <p:cNvPr id="39" name="Rectangle 38">
            <a:extLst>
              <a:ext uri="{FF2B5EF4-FFF2-40B4-BE49-F238E27FC236}">
                <a16:creationId xmlns:a16="http://schemas.microsoft.com/office/drawing/2014/main" id="{80C7A661-0FF9-B849-2771-84AA24CF5EFF}"/>
              </a:ext>
            </a:extLst>
          </p:cNvPr>
          <p:cNvSpPr/>
          <p:nvPr userDrawn="1"/>
        </p:nvSpPr>
        <p:spPr>
          <a:xfrm>
            <a:off x="14397282" y="-812143"/>
            <a:ext cx="1267863" cy="1267862"/>
          </a:xfrm>
          <a:prstGeom prst="rect">
            <a:avLst/>
          </a:prstGeom>
          <a:solidFill>
            <a:srgbClr val="33B1FF"/>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solidFill>
                  <a:schemeClr val="tx1"/>
                </a:solidFill>
                <a:latin typeface="IBM Plex Sans" panose="020B0503050203000203" pitchFamily="34" charset="0"/>
              </a:rPr>
              <a:t>Text BG</a:t>
            </a:r>
          </a:p>
          <a:p>
            <a:pPr algn="ctr"/>
            <a:r>
              <a:rPr lang="en-US" dirty="0">
                <a:solidFill>
                  <a:schemeClr val="tx1"/>
                </a:solidFill>
                <a:latin typeface="IBM Plex Sans" panose="020B0503050203000203" pitchFamily="34" charset="0"/>
              </a:rPr>
              <a:t>#33B1FF</a:t>
            </a:r>
          </a:p>
        </p:txBody>
      </p:sp>
      <p:sp>
        <p:nvSpPr>
          <p:cNvPr id="42" name="Rectangle 41">
            <a:extLst>
              <a:ext uri="{FF2B5EF4-FFF2-40B4-BE49-F238E27FC236}">
                <a16:creationId xmlns:a16="http://schemas.microsoft.com/office/drawing/2014/main" id="{784675A9-3F9A-460D-D8D6-C5D9516859D4}"/>
              </a:ext>
            </a:extLst>
          </p:cNvPr>
          <p:cNvSpPr/>
          <p:nvPr userDrawn="1"/>
        </p:nvSpPr>
        <p:spPr>
          <a:xfrm>
            <a:off x="12572429" y="-2309174"/>
            <a:ext cx="1267863" cy="1267862"/>
          </a:xfrm>
          <a:prstGeom prst="rect">
            <a:avLst/>
          </a:prstGeom>
          <a:solidFill>
            <a:srgbClr val="08BDBA"/>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solidFill>
                  <a:schemeClr val="tx1"/>
                </a:solidFill>
                <a:latin typeface="IBM Plex Sans" panose="020B0503050203000203" pitchFamily="34" charset="0"/>
              </a:rPr>
              <a:t>Text BG</a:t>
            </a:r>
          </a:p>
          <a:p>
            <a:pPr algn="ctr"/>
            <a:r>
              <a:rPr lang="en-US" dirty="0">
                <a:solidFill>
                  <a:schemeClr val="tx1"/>
                </a:solidFill>
                <a:latin typeface="IBM Plex Sans" panose="020B0503050203000203" pitchFamily="34" charset="0"/>
              </a:rPr>
              <a:t>#08BDBA</a:t>
            </a:r>
          </a:p>
        </p:txBody>
      </p:sp>
      <p:sp>
        <p:nvSpPr>
          <p:cNvPr id="43" name="Rectangle 42">
            <a:extLst>
              <a:ext uri="{FF2B5EF4-FFF2-40B4-BE49-F238E27FC236}">
                <a16:creationId xmlns:a16="http://schemas.microsoft.com/office/drawing/2014/main" id="{FD8C7787-7D0E-ED5D-DB99-53C4B52AA8F2}"/>
              </a:ext>
            </a:extLst>
          </p:cNvPr>
          <p:cNvSpPr/>
          <p:nvPr userDrawn="1"/>
        </p:nvSpPr>
        <p:spPr>
          <a:xfrm>
            <a:off x="12572429" y="-769178"/>
            <a:ext cx="1267863" cy="1267862"/>
          </a:xfrm>
          <a:prstGeom prst="rect">
            <a:avLst/>
          </a:prstGeom>
          <a:solidFill>
            <a:srgbClr val="78A9FF"/>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solidFill>
                  <a:schemeClr val="tx1"/>
                </a:solidFill>
                <a:latin typeface="IBM Plex Sans" panose="020B0503050203000203" pitchFamily="34" charset="0"/>
              </a:rPr>
              <a:t>Text BG</a:t>
            </a:r>
          </a:p>
          <a:p>
            <a:pPr algn="ctr"/>
            <a:r>
              <a:rPr lang="en-US" dirty="0">
                <a:solidFill>
                  <a:schemeClr val="tx1"/>
                </a:solidFill>
                <a:latin typeface="IBM Plex Sans" panose="020B0503050203000203" pitchFamily="34" charset="0"/>
              </a:rPr>
              <a:t>#78A9FF</a:t>
            </a:r>
          </a:p>
        </p:txBody>
      </p:sp>
      <p:sp>
        <p:nvSpPr>
          <p:cNvPr id="46" name="Rectangle 45">
            <a:extLst>
              <a:ext uri="{FF2B5EF4-FFF2-40B4-BE49-F238E27FC236}">
                <a16:creationId xmlns:a16="http://schemas.microsoft.com/office/drawing/2014/main" id="{20CCBF62-5F94-E366-51BD-6C8DCBF90955}"/>
              </a:ext>
            </a:extLst>
          </p:cNvPr>
          <p:cNvSpPr/>
          <p:nvPr userDrawn="1"/>
        </p:nvSpPr>
        <p:spPr>
          <a:xfrm>
            <a:off x="17993876" y="-2309174"/>
            <a:ext cx="1267863" cy="1267862"/>
          </a:xfrm>
          <a:prstGeom prst="rect">
            <a:avLst/>
          </a:prstGeom>
          <a:solidFill>
            <a:srgbClr val="525252"/>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solidFill>
                  <a:schemeClr val="bg2"/>
                </a:solidFill>
                <a:latin typeface="IBM Plex Sans" panose="020B0503050203000203" pitchFamily="34" charset="0"/>
              </a:rPr>
              <a:t>Labels</a:t>
            </a:r>
          </a:p>
          <a:p>
            <a:pPr algn="ctr"/>
            <a:r>
              <a:rPr lang="en-US" dirty="0">
                <a:solidFill>
                  <a:schemeClr val="bg2"/>
                </a:solidFill>
                <a:latin typeface="IBM Plex Sans" panose="020B0503050203000203" pitchFamily="34" charset="0"/>
              </a:rPr>
              <a:t>#525252</a:t>
            </a:r>
          </a:p>
        </p:txBody>
      </p:sp>
      <p:sp>
        <p:nvSpPr>
          <p:cNvPr id="47" name="Rectangle 46">
            <a:extLst>
              <a:ext uri="{FF2B5EF4-FFF2-40B4-BE49-F238E27FC236}">
                <a16:creationId xmlns:a16="http://schemas.microsoft.com/office/drawing/2014/main" id="{E5880850-0EBA-AD14-E6FD-BB1DC94F3DA5}"/>
              </a:ext>
            </a:extLst>
          </p:cNvPr>
          <p:cNvSpPr/>
          <p:nvPr userDrawn="1"/>
        </p:nvSpPr>
        <p:spPr>
          <a:xfrm>
            <a:off x="17993875" y="-812143"/>
            <a:ext cx="1267863" cy="1267862"/>
          </a:xfrm>
          <a:prstGeom prst="rect">
            <a:avLst/>
          </a:prstGeom>
          <a:solidFill>
            <a:srgbClr val="262626"/>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solidFill>
                  <a:schemeClr val="bg2"/>
                </a:solidFill>
                <a:latin typeface="IBM Plex Sans" panose="020B0503050203000203" pitchFamily="34" charset="0"/>
              </a:rPr>
              <a:t>Text</a:t>
            </a:r>
          </a:p>
          <a:p>
            <a:pPr algn="ctr"/>
            <a:r>
              <a:rPr lang="en-US" dirty="0">
                <a:solidFill>
                  <a:schemeClr val="bg2"/>
                </a:solidFill>
                <a:latin typeface="IBM Plex Sans" panose="020B0503050203000203" pitchFamily="34" charset="0"/>
              </a:rPr>
              <a:t>#262626</a:t>
            </a:r>
          </a:p>
        </p:txBody>
      </p:sp>
      <p:grpSp>
        <p:nvGrpSpPr>
          <p:cNvPr id="64" name="Group 63">
            <a:extLst>
              <a:ext uri="{FF2B5EF4-FFF2-40B4-BE49-F238E27FC236}">
                <a16:creationId xmlns:a16="http://schemas.microsoft.com/office/drawing/2014/main" id="{56209ACE-A4F7-EAC9-E98F-D141BE77F994}"/>
              </a:ext>
            </a:extLst>
          </p:cNvPr>
          <p:cNvGrpSpPr/>
          <p:nvPr userDrawn="1"/>
        </p:nvGrpSpPr>
        <p:grpSpPr>
          <a:xfrm>
            <a:off x="11094856" y="6244940"/>
            <a:ext cx="1098532" cy="613059"/>
            <a:chOff x="8965342" y="4231217"/>
            <a:chExt cx="1608171" cy="897474"/>
          </a:xfrm>
        </p:grpSpPr>
        <p:pic>
          <p:nvPicPr>
            <p:cNvPr id="60" name="Graphic 59">
              <a:extLst>
                <a:ext uri="{FF2B5EF4-FFF2-40B4-BE49-F238E27FC236}">
                  <a16:creationId xmlns:a16="http://schemas.microsoft.com/office/drawing/2014/main" id="{EFEE4105-67FB-F40B-E7BD-8C9B80C32F89}"/>
                </a:ext>
              </a:extLst>
            </p:cNvPr>
            <p:cNvPicPr>
              <a:picLocks noChangeAspect="1"/>
            </p:cNvPicPr>
            <p:nvPr userDrawn="1"/>
          </p:nvPicPr>
          <p:blipFill>
            <a:blip>
              <a:extLst>
                <a:ext uri="{96DAC541-7B7A-43D3-8B79-37D633B846F1}">
                  <asvg:svgBlip xmlns:asvg="http://schemas.microsoft.com/office/drawing/2016/SVG/main" r:embed="rId11"/>
                </a:ext>
              </a:extLst>
            </a:blip>
            <a:stretch>
              <a:fillRect/>
            </a:stretch>
          </p:blipFill>
          <p:spPr>
            <a:xfrm>
              <a:off x="9321121" y="4418033"/>
              <a:ext cx="897474" cy="355817"/>
            </a:xfrm>
            <a:prstGeom prst="rect">
              <a:avLst/>
            </a:prstGeom>
          </p:spPr>
        </p:pic>
        <p:pic>
          <p:nvPicPr>
            <p:cNvPr id="61" name="Graphic 60" hidden="1">
              <a:extLst>
                <a:ext uri="{FF2B5EF4-FFF2-40B4-BE49-F238E27FC236}">
                  <a16:creationId xmlns:a16="http://schemas.microsoft.com/office/drawing/2014/main" id="{9AB2407C-B3E2-DCDD-0692-DD32E3C45227}"/>
                </a:ext>
              </a:extLst>
            </p:cNvPr>
            <p:cNvPicPr>
              <a:picLocks noChangeAspect="1"/>
            </p:cNvPicPr>
            <p:nvPr userDrawn="1"/>
          </p:nvPicPr>
          <p:blipFill>
            <a:blip>
              <a:extLst>
                <a:ext uri="{96DAC541-7B7A-43D3-8B79-37D633B846F1}">
                  <asvg:svgBlip xmlns:asvg="http://schemas.microsoft.com/office/drawing/2016/SVG/main" r:embed="rId12"/>
                </a:ext>
              </a:extLst>
            </a:blip>
            <a:stretch>
              <a:fillRect/>
            </a:stretch>
          </p:blipFill>
          <p:spPr>
            <a:xfrm>
              <a:off x="9321121" y="4772874"/>
              <a:ext cx="897474" cy="355817"/>
            </a:xfrm>
            <a:prstGeom prst="rect">
              <a:avLst/>
            </a:prstGeom>
          </p:spPr>
        </p:pic>
        <p:pic>
          <p:nvPicPr>
            <p:cNvPr id="62" name="Graphic 61" hidden="1">
              <a:extLst>
                <a:ext uri="{FF2B5EF4-FFF2-40B4-BE49-F238E27FC236}">
                  <a16:creationId xmlns:a16="http://schemas.microsoft.com/office/drawing/2014/main" id="{9128FFA9-E729-6051-FE44-5C57854D2B9B}"/>
                </a:ext>
              </a:extLst>
            </p:cNvPr>
            <p:cNvPicPr>
              <a:picLocks noChangeAspect="1"/>
            </p:cNvPicPr>
            <p:nvPr userDrawn="1"/>
          </p:nvPicPr>
          <p:blipFill>
            <a:blip>
              <a:extLst>
                <a:ext uri="{96DAC541-7B7A-43D3-8B79-37D633B846F1}">
                  <asvg:svgBlip xmlns:asvg="http://schemas.microsoft.com/office/drawing/2016/SVG/main" r:embed="rId12"/>
                </a:ext>
              </a:extLst>
            </a:blip>
            <a:stretch>
              <a:fillRect/>
            </a:stretch>
          </p:blipFill>
          <p:spPr>
            <a:xfrm rot="16200000">
              <a:off x="9946868" y="4502045"/>
              <a:ext cx="897474" cy="355817"/>
            </a:xfrm>
            <a:prstGeom prst="rect">
              <a:avLst/>
            </a:prstGeom>
          </p:spPr>
        </p:pic>
        <p:pic>
          <p:nvPicPr>
            <p:cNvPr id="63" name="Graphic 62" hidden="1">
              <a:extLst>
                <a:ext uri="{FF2B5EF4-FFF2-40B4-BE49-F238E27FC236}">
                  <a16:creationId xmlns:a16="http://schemas.microsoft.com/office/drawing/2014/main" id="{21D1BE07-55D7-FEB6-D90F-FC214DFBDA4C}"/>
                </a:ext>
              </a:extLst>
            </p:cNvPr>
            <p:cNvPicPr>
              <a:picLocks noChangeAspect="1"/>
            </p:cNvPicPr>
            <p:nvPr userDrawn="1"/>
          </p:nvPicPr>
          <p:blipFill>
            <a:blip>
              <a:extLst>
                <a:ext uri="{96DAC541-7B7A-43D3-8B79-37D633B846F1}">
                  <asvg:svgBlip xmlns:asvg="http://schemas.microsoft.com/office/drawing/2016/SVG/main" r:embed="rId12"/>
                </a:ext>
              </a:extLst>
            </a:blip>
            <a:stretch>
              <a:fillRect/>
            </a:stretch>
          </p:blipFill>
          <p:spPr>
            <a:xfrm rot="16200000">
              <a:off x="8694514" y="4502045"/>
              <a:ext cx="897474" cy="355817"/>
            </a:xfrm>
            <a:prstGeom prst="rect">
              <a:avLst/>
            </a:prstGeom>
          </p:spPr>
        </p:pic>
      </p:grpSp>
      <p:pic>
        <p:nvPicPr>
          <p:cNvPr id="66" name="Graphic 65">
            <a:extLst>
              <a:ext uri="{FF2B5EF4-FFF2-40B4-BE49-F238E27FC236}">
                <a16:creationId xmlns:a16="http://schemas.microsoft.com/office/drawing/2014/main" id="{FD0E63E5-36ED-0A5F-F2A0-E31AD11555EA}"/>
              </a:ext>
            </a:extLst>
          </p:cNvPr>
          <p:cNvPicPr>
            <a:picLocks noChangeAspect="1"/>
          </p:cNvPicPr>
          <p:nvPr userDrawn="1"/>
        </p:nvPicPr>
        <p:blipFill>
          <a:blip>
            <a:extLst>
              <a:ext uri="{96DAC541-7B7A-43D3-8B79-37D633B846F1}">
                <asvg:svgBlip xmlns:asvg="http://schemas.microsoft.com/office/drawing/2016/SVG/main" r:embed="rId13"/>
              </a:ext>
            </a:extLst>
          </a:blip>
          <a:stretch>
            <a:fillRect/>
          </a:stretch>
        </p:blipFill>
        <p:spPr>
          <a:xfrm>
            <a:off x="241053" y="6372101"/>
            <a:ext cx="1630680" cy="247650"/>
          </a:xfrm>
          <a:prstGeom prst="rect">
            <a:avLst/>
          </a:prstGeom>
        </p:spPr>
      </p:pic>
      <p:sp>
        <p:nvSpPr>
          <p:cNvPr id="67" name="Rectangle 66" hidden="1">
            <a:extLst>
              <a:ext uri="{FF2B5EF4-FFF2-40B4-BE49-F238E27FC236}">
                <a16:creationId xmlns:a16="http://schemas.microsoft.com/office/drawing/2014/main" id="{04EE5960-43EB-4B14-0782-2876BE85A607}"/>
              </a:ext>
            </a:extLst>
          </p:cNvPr>
          <p:cNvSpPr/>
          <p:nvPr userDrawn="1"/>
        </p:nvSpPr>
        <p:spPr>
          <a:xfrm>
            <a:off x="-76201" y="6356350"/>
            <a:ext cx="12353925" cy="276797"/>
          </a:xfrm>
          <a:prstGeom prst="rect">
            <a:avLst/>
          </a:prstGeom>
          <a:noFill/>
          <a:ln w="28575">
            <a:solidFill>
              <a:schemeClr val="accent6">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ustDataLst>
      <p:tags r:id="rId8"/>
    </p:custDataLst>
    <p:extLst>
      <p:ext uri="{BB962C8B-B14F-4D97-AF65-F5344CB8AC3E}">
        <p14:creationId xmlns:p14="http://schemas.microsoft.com/office/powerpoint/2010/main" val="127044293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4" r:id="rId3"/>
    <p:sldLayoutId id="2147483666" r:id="rId4"/>
    <p:sldLayoutId id="2147483667" r:id="rId5"/>
    <p:sldLayoutId id="2147483673" r:id="rId6"/>
  </p:sldLayoutIdLst>
  <p:txStyles>
    <p:titleStyle>
      <a:lvl1pPr algn="l" defTabSz="914400" rtl="0" eaLnBrk="1" latinLnBrk="0" hangingPunct="1">
        <a:lnSpc>
          <a:spcPct val="90000"/>
        </a:lnSpc>
        <a:spcBef>
          <a:spcPct val="0"/>
        </a:spcBef>
        <a:buNone/>
        <a:defRPr sz="4000" b="1" i="0" kern="1200">
          <a:solidFill>
            <a:srgbClr val="525252"/>
          </a:solidFill>
          <a:latin typeface="IBM Plex Sans SemiBold" panose="020B0503050203000203" pitchFamily="34" charset="0"/>
          <a:ea typeface="IBM Plex Sans SemiBold" panose="020B0503050203000203" pitchFamily="34" charset="0"/>
          <a:cs typeface="IBM Plex Sans SemiBold" panose="020B0503050203000203" pitchFamily="34" charset="0"/>
        </a:defRPr>
      </a:lvl1pPr>
    </p:titleStyle>
    <p:bodyStyle>
      <a:lvl1pPr marL="228600" indent="-228600" algn="l" defTabSz="914400" rtl="0" eaLnBrk="1" latinLnBrk="0" hangingPunct="1">
        <a:lnSpc>
          <a:spcPct val="90000"/>
        </a:lnSpc>
        <a:spcBef>
          <a:spcPts val="1000"/>
        </a:spcBef>
        <a:buFont typeface="Arial"/>
        <a:buChar char="•"/>
        <a:defRPr sz="2800" kern="1200">
          <a:solidFill>
            <a:srgbClr val="262626"/>
          </a:solidFill>
          <a:latin typeface="IBM Plex Sans" panose="020B0503050203000203" pitchFamily="34" charset="0"/>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rgbClr val="262626"/>
          </a:solidFill>
          <a:latin typeface="IBM Plex Sans" panose="020B0503050203000203" pitchFamily="34" charset="0"/>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rgbClr val="262626"/>
          </a:solidFill>
          <a:latin typeface="IBM Plex Sans" panose="020B0503050203000203" pitchFamily="34" charset="0"/>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rgbClr val="262626"/>
          </a:solidFill>
          <a:latin typeface="IBM Plex Sans" panose="020B0503050203000203" pitchFamily="34" charset="0"/>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rgbClr val="262626"/>
          </a:solidFill>
          <a:latin typeface="IBM Plex Sans" panose="020B0503050203000203" pitchFamily="34"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Layout" Target="../slideLayouts/slideLayout3.xml"/><Relationship Id="rId1" Type="http://schemas.openxmlformats.org/officeDocument/2006/relationships/tags" Target="../tags/tag7.xml"/></Relationships>
</file>

<file path=ppt/slides/_rels/slide2.xml.rels><?xml version="1.0" encoding="UTF-8" standalone="yes"?>
<Relationships xmlns="http://schemas.openxmlformats.org/package/2006/relationships"><Relationship Id="rId8" Type="http://schemas.openxmlformats.org/officeDocument/2006/relationships/customXml" Target="../ink/ink4.xml"/><Relationship Id="rId13" Type="http://schemas.openxmlformats.org/officeDocument/2006/relationships/customXml" Target="../ink/ink8.xml"/><Relationship Id="rId3" Type="http://schemas.openxmlformats.org/officeDocument/2006/relationships/image" Target="../media/image6.png"/><Relationship Id="rId7" Type="http://schemas.openxmlformats.org/officeDocument/2006/relationships/customXml" Target="../ink/ink3.xml"/><Relationship Id="rId12" Type="http://schemas.openxmlformats.org/officeDocument/2006/relationships/customXml" Target="../ink/ink7.xml"/><Relationship Id="rId2" Type="http://schemas.openxmlformats.org/officeDocument/2006/relationships/slideLayout" Target="../slideLayouts/slideLayout2.xml"/><Relationship Id="rId1" Type="http://schemas.openxmlformats.org/officeDocument/2006/relationships/tags" Target="../tags/tag8.xml"/><Relationship Id="rId6" Type="http://schemas.openxmlformats.org/officeDocument/2006/relationships/customXml" Target="../ink/ink2.xml"/><Relationship Id="rId11" Type="http://schemas.openxmlformats.org/officeDocument/2006/relationships/customXml" Target="../ink/ink6.xml"/><Relationship Id="rId5" Type="http://schemas.openxmlformats.org/officeDocument/2006/relationships/image" Target="../media/image10.png"/><Relationship Id="rId10" Type="http://schemas.openxmlformats.org/officeDocument/2006/relationships/customXml" Target="../ink/ink5.xml"/><Relationship Id="rId4" Type="http://schemas.openxmlformats.org/officeDocument/2006/relationships/customXml" Target="../ink/ink1.xml"/><Relationship Id="rId9" Type="http://schemas.openxmlformats.org/officeDocument/2006/relationships/image" Target="../media/image11.png"/><Relationship Id="rId14" Type="http://schemas.openxmlformats.org/officeDocument/2006/relationships/customXml" Target="../ink/ink9.xml"/></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slideLayout" Target="../slideLayouts/slideLayout3.xml"/><Relationship Id="rId1" Type="http://schemas.openxmlformats.org/officeDocument/2006/relationships/tags" Target="../tags/tag9.xml"/></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slideLayout" Target="../slideLayouts/slideLayout3.xml"/><Relationship Id="rId1" Type="http://schemas.openxmlformats.org/officeDocument/2006/relationships/tags" Target="../tags/tag10.xml"/></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slideLayout" Target="../slideLayouts/slideLayout3.xml"/><Relationship Id="rId1" Type="http://schemas.openxmlformats.org/officeDocument/2006/relationships/tags" Target="../tags/tag11.xml"/></Relationships>
</file>

<file path=ppt/slides/_rels/slide6.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slideLayout" Target="../slideLayouts/slideLayout3.xml"/><Relationship Id="rId1" Type="http://schemas.openxmlformats.org/officeDocument/2006/relationships/tags" Target="../tags/tag12.xml"/></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slideLayout" Target="../slideLayouts/slideLayout3.xml"/><Relationship Id="rId1" Type="http://schemas.openxmlformats.org/officeDocument/2006/relationships/tags" Target="../tags/tag13.xml"/></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slideLayout" Target="../slideLayouts/slideLayout3.xml"/><Relationship Id="rId1" Type="http://schemas.openxmlformats.org/officeDocument/2006/relationships/tags" Target="../tags/tag14.xml"/></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slideLayout" Target="../slideLayouts/slideLayout3.xml"/><Relationship Id="rId1" Type="http://schemas.openxmlformats.org/officeDocument/2006/relationships/tags" Target="../tags/tag15.xml"/><Relationship Id="rId4" Type="http://schemas.openxmlformats.org/officeDocument/2006/relationships/image" Target="../media/image15.pn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16.xml"/></Relationships>
</file>

<file path=ppt/slides/_rels/slide1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slideLayout" Target="../slideLayouts/slideLayout3.xml"/><Relationship Id="rId1" Type="http://schemas.openxmlformats.org/officeDocument/2006/relationships/tags" Target="../tags/tag17.xml"/><Relationship Id="rId4" Type="http://schemas.openxmlformats.org/officeDocument/2006/relationships/image" Target="../media/image17.png"/></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18.xml"/></Relationships>
</file>

<file path=ppt/slides/_rels/slide1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slideLayout" Target="../slideLayouts/slideLayout3.xml"/><Relationship Id="rId1" Type="http://schemas.openxmlformats.org/officeDocument/2006/relationships/tags" Target="../tags/tag19.xml"/></Relationships>
</file>

<file path=ppt/slides/_rels/slide1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slideLayout" Target="../slideLayouts/slideLayout3.xml"/><Relationship Id="rId1" Type="http://schemas.openxmlformats.org/officeDocument/2006/relationships/tags" Target="../tags/tag20.xml"/></Relationships>
</file>

<file path=ppt/slides/_rels/slide1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slideLayout" Target="../slideLayouts/slideLayout3.xml"/><Relationship Id="rId1" Type="http://schemas.openxmlformats.org/officeDocument/2006/relationships/tags" Target="../tags/tag21.xml"/></Relationships>
</file>

<file path=ppt/slides/_rels/slide1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slideLayout" Target="../slideLayouts/slideLayout3.xml"/><Relationship Id="rId1" Type="http://schemas.openxmlformats.org/officeDocument/2006/relationships/tags" Target="../tags/tag22.xml"/></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3.xml"/><Relationship Id="rId1" Type="http://schemas.openxmlformats.org/officeDocument/2006/relationships/tags" Target="../tags/tag23.xml"/><Relationship Id="rId4" Type="http://schemas.openxmlformats.org/officeDocument/2006/relationships/image" Target="../media/image18.png"/></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3.xml"/><Relationship Id="rId1" Type="http://schemas.openxmlformats.org/officeDocument/2006/relationships/tags" Target="../tags/tag24.xml"/></Relationships>
</file>

<file path=ppt/slides/_rels/slide1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slideLayout" Target="../slideLayouts/slideLayout3.xml"/><Relationship Id="rId1" Type="http://schemas.openxmlformats.org/officeDocument/2006/relationships/tags" Target="../tags/tag25.xml"/></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3.xml"/><Relationship Id="rId1" Type="http://schemas.openxmlformats.org/officeDocument/2006/relationships/tags" Target="../tags/tag26.xml"/><Relationship Id="rId4" Type="http://schemas.openxmlformats.org/officeDocument/2006/relationships/image" Target="../media/image2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0D5631-0297-E86E-7069-C969B141FD7D}"/>
              </a:ext>
            </a:extLst>
          </p:cNvPr>
          <p:cNvSpPr>
            <a:spLocks noGrp="1"/>
          </p:cNvSpPr>
          <p:nvPr>
            <p:ph type="title"/>
          </p:nvPr>
        </p:nvSpPr>
        <p:spPr>
          <a:xfrm>
            <a:off x="838200" y="552162"/>
            <a:ext cx="10515600" cy="611620"/>
          </a:xfrm>
        </p:spPr>
        <p:txBody>
          <a:bodyPr anchor="ctr">
            <a:noAutofit/>
          </a:bodyPr>
          <a:lstStyle/>
          <a:p>
            <a:r>
              <a:rPr lang="en-US" dirty="0"/>
              <a:t>Data Analyst Capstone Project Report</a:t>
            </a:r>
            <a:r>
              <a:rPr lang="en-US" b="0" dirty="0"/>
              <a:t> </a:t>
            </a:r>
            <a:endParaRPr lang="en-US" dirty="0"/>
          </a:p>
        </p:txBody>
      </p:sp>
      <p:sp>
        <p:nvSpPr>
          <p:cNvPr id="3" name="Subtitle 2">
            <a:extLst>
              <a:ext uri="{FF2B5EF4-FFF2-40B4-BE49-F238E27FC236}">
                <a16:creationId xmlns:a16="http://schemas.microsoft.com/office/drawing/2014/main" id="{59DF6B8D-2BAC-11F8-7D28-B631D08C8D90}"/>
              </a:ext>
            </a:extLst>
          </p:cNvPr>
          <p:cNvSpPr>
            <a:spLocks noGrp="1"/>
          </p:cNvSpPr>
          <p:nvPr>
            <p:ph sz="half" idx="1"/>
          </p:nvPr>
        </p:nvSpPr>
        <p:spPr/>
        <p:txBody>
          <a:bodyPr>
            <a:normAutofit/>
          </a:bodyPr>
          <a:lstStyle/>
          <a:p>
            <a:pPr marL="0" indent="0">
              <a:buNone/>
            </a:pPr>
            <a:r>
              <a:rPr lang="en-US" dirty="0">
                <a:solidFill>
                  <a:schemeClr val="bg1">
                    <a:lumMod val="75000"/>
                  </a:schemeClr>
                </a:solidFill>
                <a:latin typeface="IBM Plex Mono Medium" panose="020B0609050203000203" pitchFamily="49" charset="0"/>
              </a:rPr>
              <a:t>Julio Cesar Zamora Ramirez</a:t>
            </a:r>
          </a:p>
          <a:p>
            <a:pPr marL="0" indent="0">
              <a:buNone/>
            </a:pPr>
            <a:r>
              <a:rPr lang="en-US" dirty="0">
                <a:solidFill>
                  <a:schemeClr val="bg1">
                    <a:lumMod val="75000"/>
                  </a:schemeClr>
                </a:solidFill>
                <a:latin typeface="IBM Plex Mono Medium" panose="020B0609050203000203" pitchFamily="49" charset="0"/>
              </a:rPr>
              <a:t>5/25/2026</a:t>
            </a:r>
          </a:p>
          <a:p>
            <a:endParaRPr lang="en-US" dirty="0"/>
          </a:p>
        </p:txBody>
      </p:sp>
      <p:pic>
        <p:nvPicPr>
          <p:cNvPr id="4" name="Picture 3">
            <a:extLst>
              <a:ext uri="{FF2B5EF4-FFF2-40B4-BE49-F238E27FC236}">
                <a16:creationId xmlns:a16="http://schemas.microsoft.com/office/drawing/2014/main" id="{77323E2C-8982-861D-BE1D-3E30E5CC437C}"/>
              </a:ext>
            </a:extLst>
          </p:cNvPr>
          <p:cNvPicPr>
            <a:picLocks noChangeAspect="1"/>
          </p:cNvPicPr>
          <p:nvPr/>
        </p:nvPicPr>
        <p:blipFill>
          <a:blip r:embed="rId3"/>
          <a:stretch>
            <a:fillRect/>
          </a:stretch>
        </p:blipFill>
        <p:spPr>
          <a:xfrm>
            <a:off x="5689811" y="1600200"/>
            <a:ext cx="5038015" cy="4572000"/>
          </a:xfrm>
          <a:prstGeom prst="rect">
            <a:avLst/>
          </a:prstGeom>
          <a:noFill/>
        </p:spPr>
      </p:pic>
    </p:spTree>
    <p:custDataLst>
      <p:tags r:id="rId1"/>
    </p:custDataLst>
    <p:extLst>
      <p:ext uri="{BB962C8B-B14F-4D97-AF65-F5344CB8AC3E}">
        <p14:creationId xmlns:p14="http://schemas.microsoft.com/office/powerpoint/2010/main" val="400973099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613BC838-B25A-D37F-BC71-DD617895704C}"/>
              </a:ext>
            </a:extLst>
          </p:cNvPr>
          <p:cNvPicPr>
            <a:picLocks noChangeAspect="1"/>
          </p:cNvPicPr>
          <p:nvPr/>
        </p:nvPicPr>
        <p:blipFill>
          <a:blip r:embed="rId3"/>
          <a:stretch>
            <a:fillRect/>
          </a:stretch>
        </p:blipFill>
        <p:spPr>
          <a:xfrm>
            <a:off x="1450711" y="2025672"/>
            <a:ext cx="3194581" cy="3194581"/>
          </a:xfrm>
          <a:prstGeom prst="rect">
            <a:avLst/>
          </a:prstGeom>
        </p:spPr>
      </p:pic>
      <p:sp>
        <p:nvSpPr>
          <p:cNvPr id="9" name="Title 1">
            <a:extLst>
              <a:ext uri="{FF2B5EF4-FFF2-40B4-BE49-F238E27FC236}">
                <a16:creationId xmlns:a16="http://schemas.microsoft.com/office/drawing/2014/main" id="{EEC79264-7E04-A135-9158-F7EF333AC3D8}"/>
              </a:ext>
            </a:extLst>
          </p:cNvPr>
          <p:cNvSpPr txBox="1">
            <a:spLocks/>
          </p:cNvSpPr>
          <p:nvPr/>
        </p:nvSpPr>
        <p:spPr>
          <a:xfrm>
            <a:off x="782054" y="263810"/>
            <a:ext cx="8508528"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000" b="1" i="0" kern="1200">
                <a:solidFill>
                  <a:srgbClr val="525252"/>
                </a:solidFill>
                <a:latin typeface="IBM Plex Sans SemiBold" panose="020B0503050203000203" pitchFamily="34" charset="0"/>
                <a:ea typeface="IBM Plex Sans SemiBold" panose="020B0503050203000203" pitchFamily="34" charset="0"/>
                <a:cs typeface="IBM Plex Sans SemiBold" panose="020B0503050203000203" pitchFamily="34" charset="0"/>
              </a:defRPr>
            </a:lvl1pPr>
          </a:lstStyle>
          <a:p>
            <a:r>
              <a:rPr lang="en-US"/>
              <a:t>OUTLINE</a:t>
            </a:r>
            <a:endParaRPr lang="en-US" dirty="0"/>
          </a:p>
        </p:txBody>
      </p:sp>
      <p:sp>
        <p:nvSpPr>
          <p:cNvPr id="10" name="Content Placeholder 2">
            <a:extLst>
              <a:ext uri="{FF2B5EF4-FFF2-40B4-BE49-F238E27FC236}">
                <a16:creationId xmlns:a16="http://schemas.microsoft.com/office/drawing/2014/main" id="{79639434-C7DB-C6DD-28C9-5FE3588C5BC8}"/>
              </a:ext>
            </a:extLst>
          </p:cNvPr>
          <p:cNvSpPr txBox="1">
            <a:spLocks/>
          </p:cNvSpPr>
          <p:nvPr/>
        </p:nvSpPr>
        <p:spPr>
          <a:xfrm>
            <a:off x="6172200" y="1825625"/>
            <a:ext cx="5181600" cy="4351338"/>
          </a:xfrm>
          <a:prstGeom prst="rect">
            <a:avLst/>
          </a:prstGeom>
        </p:spPr>
        <p:txBody>
          <a:bodyPr>
            <a:normAutofit/>
          </a:bodyPr>
          <a:lstStyle>
            <a:lvl1pPr marL="228600" indent="-228600" algn="l" defTabSz="914400" rtl="0" eaLnBrk="1" latinLnBrk="0" hangingPunct="1">
              <a:lnSpc>
                <a:spcPct val="90000"/>
              </a:lnSpc>
              <a:spcBef>
                <a:spcPts val="1000"/>
              </a:spcBef>
              <a:buFont typeface="Arial"/>
              <a:buChar char="•"/>
              <a:defRPr sz="2800" kern="1200">
                <a:solidFill>
                  <a:srgbClr val="262626"/>
                </a:solidFill>
                <a:latin typeface="IBM Plex Sans" panose="020B0503050203000203" pitchFamily="34" charset="0"/>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rgbClr val="262626"/>
                </a:solidFill>
                <a:latin typeface="IBM Plex Sans" panose="020B0503050203000203" pitchFamily="34" charset="0"/>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rgbClr val="262626"/>
                </a:solidFill>
                <a:latin typeface="IBM Plex Sans" panose="020B0503050203000203" pitchFamily="34" charset="0"/>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rgbClr val="262626"/>
                </a:solidFill>
                <a:latin typeface="IBM Plex Sans" panose="020B0503050203000203" pitchFamily="34" charset="0"/>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rgbClr val="262626"/>
                </a:solidFill>
                <a:latin typeface="IBM Plex Sans" panose="020B0503050203000203" pitchFamily="34"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r>
              <a:rPr lang="en-US" sz="2200" dirty="0"/>
              <a:t>Executive Summary</a:t>
            </a:r>
          </a:p>
          <a:p>
            <a:r>
              <a:rPr lang="en-US" sz="2200" dirty="0"/>
              <a:t>Introduction</a:t>
            </a:r>
          </a:p>
          <a:p>
            <a:r>
              <a:rPr lang="en-US" sz="2200" dirty="0"/>
              <a:t>Methodology</a:t>
            </a:r>
          </a:p>
          <a:p>
            <a:r>
              <a:rPr lang="en-US" sz="2200" dirty="0"/>
              <a:t>Results</a:t>
            </a:r>
          </a:p>
          <a:p>
            <a:pPr lvl="1"/>
            <a:r>
              <a:rPr lang="en-US" sz="1800" dirty="0"/>
              <a:t>Visualization – Charts</a:t>
            </a:r>
          </a:p>
          <a:p>
            <a:pPr lvl="1"/>
            <a:r>
              <a:rPr lang="en-US" sz="1800" dirty="0"/>
              <a:t>Dashboard</a:t>
            </a:r>
          </a:p>
          <a:p>
            <a:r>
              <a:rPr lang="en-US" sz="2200" dirty="0"/>
              <a:t>Discussion</a:t>
            </a:r>
          </a:p>
          <a:p>
            <a:pPr lvl="1"/>
            <a:r>
              <a:rPr lang="en-US" sz="1800" dirty="0"/>
              <a:t>Findings &amp; Implications</a:t>
            </a:r>
          </a:p>
          <a:p>
            <a:r>
              <a:rPr lang="en-US" sz="2200" dirty="0"/>
              <a:t>Conclusion</a:t>
            </a:r>
          </a:p>
          <a:p>
            <a:r>
              <a:rPr lang="en-US" sz="2200" dirty="0"/>
              <a:t>Appendix</a:t>
            </a:r>
          </a:p>
        </p:txBody>
      </p:sp>
      <mc:AlternateContent xmlns:mc="http://schemas.openxmlformats.org/markup-compatibility/2006" xmlns:p14="http://schemas.microsoft.com/office/powerpoint/2010/main">
        <mc:Choice Requires="p14">
          <p:contentPart p14:bwMode="auto" r:id="rId4">
            <p14:nvContentPartPr>
              <p14:cNvPr id="11" name="Ink 10">
                <a:extLst>
                  <a:ext uri="{FF2B5EF4-FFF2-40B4-BE49-F238E27FC236}">
                    <a16:creationId xmlns:a16="http://schemas.microsoft.com/office/drawing/2014/main" id="{17992DA0-58E4-05C4-71CF-DD740B996440}"/>
                  </a:ext>
                </a:extLst>
              </p14:cNvPr>
              <p14:cNvContentPartPr/>
              <p14:nvPr/>
            </p14:nvContentPartPr>
            <p14:xfrm>
              <a:off x="1889280" y="999312"/>
              <a:ext cx="360" cy="360"/>
            </p14:xfrm>
          </p:contentPart>
        </mc:Choice>
        <mc:Fallback xmlns="">
          <p:pic>
            <p:nvPicPr>
              <p:cNvPr id="11" name="Ink 10">
                <a:extLst>
                  <a:ext uri="{FF2B5EF4-FFF2-40B4-BE49-F238E27FC236}">
                    <a16:creationId xmlns:a16="http://schemas.microsoft.com/office/drawing/2014/main" id="{17992DA0-58E4-05C4-71CF-DD740B996440}"/>
                  </a:ext>
                </a:extLst>
              </p:cNvPr>
              <p:cNvPicPr/>
              <p:nvPr/>
            </p:nvPicPr>
            <p:blipFill>
              <a:blip r:embed="rId5"/>
              <a:stretch>
                <a:fillRect/>
              </a:stretch>
            </p:blipFill>
            <p:spPr>
              <a:xfrm>
                <a:off x="1799280" y="819312"/>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12" name="Ink 11">
                <a:extLst>
                  <a:ext uri="{FF2B5EF4-FFF2-40B4-BE49-F238E27FC236}">
                    <a16:creationId xmlns:a16="http://schemas.microsoft.com/office/drawing/2014/main" id="{482A2257-403C-392A-475C-257A25E95802}"/>
                  </a:ext>
                </a:extLst>
              </p14:cNvPr>
              <p14:cNvContentPartPr/>
              <p14:nvPr/>
            </p14:nvContentPartPr>
            <p14:xfrm>
              <a:off x="2328120" y="962952"/>
              <a:ext cx="360" cy="360"/>
            </p14:xfrm>
          </p:contentPart>
        </mc:Choice>
        <mc:Fallback xmlns="">
          <p:pic>
            <p:nvPicPr>
              <p:cNvPr id="12" name="Ink 11">
                <a:extLst>
                  <a:ext uri="{FF2B5EF4-FFF2-40B4-BE49-F238E27FC236}">
                    <a16:creationId xmlns:a16="http://schemas.microsoft.com/office/drawing/2014/main" id="{482A2257-403C-392A-475C-257A25E95802}"/>
                  </a:ext>
                </a:extLst>
              </p:cNvPr>
              <p:cNvPicPr/>
              <p:nvPr/>
            </p:nvPicPr>
            <p:blipFill>
              <a:blip r:embed="rId5"/>
              <a:stretch>
                <a:fillRect/>
              </a:stretch>
            </p:blipFill>
            <p:spPr>
              <a:xfrm>
                <a:off x="2238120" y="782952"/>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13" name="Ink 12">
                <a:extLst>
                  <a:ext uri="{FF2B5EF4-FFF2-40B4-BE49-F238E27FC236}">
                    <a16:creationId xmlns:a16="http://schemas.microsoft.com/office/drawing/2014/main" id="{D029E5DF-95C3-9324-3430-6C07411D941C}"/>
                  </a:ext>
                </a:extLst>
              </p14:cNvPr>
              <p14:cNvContentPartPr/>
              <p14:nvPr/>
            </p14:nvContentPartPr>
            <p14:xfrm>
              <a:off x="2828160" y="926232"/>
              <a:ext cx="360" cy="360"/>
            </p14:xfrm>
          </p:contentPart>
        </mc:Choice>
        <mc:Fallback xmlns="">
          <p:pic>
            <p:nvPicPr>
              <p:cNvPr id="13" name="Ink 12">
                <a:extLst>
                  <a:ext uri="{FF2B5EF4-FFF2-40B4-BE49-F238E27FC236}">
                    <a16:creationId xmlns:a16="http://schemas.microsoft.com/office/drawing/2014/main" id="{D029E5DF-95C3-9324-3430-6C07411D941C}"/>
                  </a:ext>
                </a:extLst>
              </p:cNvPr>
              <p:cNvPicPr/>
              <p:nvPr/>
            </p:nvPicPr>
            <p:blipFill>
              <a:blip r:embed="rId5"/>
              <a:stretch>
                <a:fillRect/>
              </a:stretch>
            </p:blipFill>
            <p:spPr>
              <a:xfrm>
                <a:off x="2738160" y="746232"/>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14" name="Ink 13">
                <a:extLst>
                  <a:ext uri="{FF2B5EF4-FFF2-40B4-BE49-F238E27FC236}">
                    <a16:creationId xmlns:a16="http://schemas.microsoft.com/office/drawing/2014/main" id="{51E65F16-DA3B-6993-F729-45193F9CF124}"/>
                  </a:ext>
                </a:extLst>
              </p14:cNvPr>
              <p14:cNvContentPartPr/>
              <p14:nvPr/>
            </p14:nvContentPartPr>
            <p14:xfrm>
              <a:off x="2828160" y="926232"/>
              <a:ext cx="3240" cy="5040"/>
            </p14:xfrm>
          </p:contentPart>
        </mc:Choice>
        <mc:Fallback xmlns="">
          <p:pic>
            <p:nvPicPr>
              <p:cNvPr id="14" name="Ink 13">
                <a:extLst>
                  <a:ext uri="{FF2B5EF4-FFF2-40B4-BE49-F238E27FC236}">
                    <a16:creationId xmlns:a16="http://schemas.microsoft.com/office/drawing/2014/main" id="{51E65F16-DA3B-6993-F729-45193F9CF124}"/>
                  </a:ext>
                </a:extLst>
              </p:cNvPr>
              <p:cNvPicPr/>
              <p:nvPr/>
            </p:nvPicPr>
            <p:blipFill>
              <a:blip r:embed="rId9"/>
              <a:stretch>
                <a:fillRect/>
              </a:stretch>
            </p:blipFill>
            <p:spPr>
              <a:xfrm>
                <a:off x="2738160" y="758232"/>
                <a:ext cx="182880" cy="340704"/>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15" name="Ink 14">
                <a:extLst>
                  <a:ext uri="{FF2B5EF4-FFF2-40B4-BE49-F238E27FC236}">
                    <a16:creationId xmlns:a16="http://schemas.microsoft.com/office/drawing/2014/main" id="{DA4954AB-7AA6-D07E-B72B-071B959556E6}"/>
                  </a:ext>
                </a:extLst>
              </p14:cNvPr>
              <p14:cNvContentPartPr/>
              <p14:nvPr/>
            </p14:nvContentPartPr>
            <p14:xfrm>
              <a:off x="7266240" y="2888952"/>
              <a:ext cx="360" cy="360"/>
            </p14:xfrm>
          </p:contentPart>
        </mc:Choice>
        <mc:Fallback xmlns="">
          <p:pic>
            <p:nvPicPr>
              <p:cNvPr id="15" name="Ink 14">
                <a:extLst>
                  <a:ext uri="{FF2B5EF4-FFF2-40B4-BE49-F238E27FC236}">
                    <a16:creationId xmlns:a16="http://schemas.microsoft.com/office/drawing/2014/main" id="{DA4954AB-7AA6-D07E-B72B-071B959556E6}"/>
                  </a:ext>
                </a:extLst>
              </p:cNvPr>
              <p:cNvPicPr/>
              <p:nvPr/>
            </p:nvPicPr>
            <p:blipFill>
              <a:blip r:embed="rId5"/>
              <a:stretch>
                <a:fillRect/>
              </a:stretch>
            </p:blipFill>
            <p:spPr>
              <a:xfrm>
                <a:off x="7176240" y="2708952"/>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16" name="Ink 15">
                <a:extLst>
                  <a:ext uri="{FF2B5EF4-FFF2-40B4-BE49-F238E27FC236}">
                    <a16:creationId xmlns:a16="http://schemas.microsoft.com/office/drawing/2014/main" id="{4C9430D9-2989-125F-94DC-1DA2D66BDD55}"/>
                  </a:ext>
                </a:extLst>
              </p14:cNvPr>
              <p14:cNvContentPartPr/>
              <p14:nvPr/>
            </p14:nvContentPartPr>
            <p14:xfrm>
              <a:off x="7266240" y="2888952"/>
              <a:ext cx="360" cy="360"/>
            </p14:xfrm>
          </p:contentPart>
        </mc:Choice>
        <mc:Fallback xmlns="">
          <p:pic>
            <p:nvPicPr>
              <p:cNvPr id="16" name="Ink 15">
                <a:extLst>
                  <a:ext uri="{FF2B5EF4-FFF2-40B4-BE49-F238E27FC236}">
                    <a16:creationId xmlns:a16="http://schemas.microsoft.com/office/drawing/2014/main" id="{4C9430D9-2989-125F-94DC-1DA2D66BDD55}"/>
                  </a:ext>
                </a:extLst>
              </p:cNvPr>
              <p:cNvPicPr/>
              <p:nvPr/>
            </p:nvPicPr>
            <p:blipFill>
              <a:blip r:embed="rId5"/>
              <a:stretch>
                <a:fillRect/>
              </a:stretch>
            </p:blipFill>
            <p:spPr>
              <a:xfrm>
                <a:off x="7176240" y="2708952"/>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17" name="Ink 16">
                <a:extLst>
                  <a:ext uri="{FF2B5EF4-FFF2-40B4-BE49-F238E27FC236}">
                    <a16:creationId xmlns:a16="http://schemas.microsoft.com/office/drawing/2014/main" id="{009380E8-5542-6CEB-DEF5-1F0E98FBDFC2}"/>
                  </a:ext>
                </a:extLst>
              </p14:cNvPr>
              <p14:cNvContentPartPr/>
              <p14:nvPr/>
            </p14:nvContentPartPr>
            <p14:xfrm>
              <a:off x="7266240" y="2888952"/>
              <a:ext cx="360" cy="360"/>
            </p14:xfrm>
          </p:contentPart>
        </mc:Choice>
        <mc:Fallback xmlns="">
          <p:pic>
            <p:nvPicPr>
              <p:cNvPr id="17" name="Ink 16">
                <a:extLst>
                  <a:ext uri="{FF2B5EF4-FFF2-40B4-BE49-F238E27FC236}">
                    <a16:creationId xmlns:a16="http://schemas.microsoft.com/office/drawing/2014/main" id="{009380E8-5542-6CEB-DEF5-1F0E98FBDFC2}"/>
                  </a:ext>
                </a:extLst>
              </p:cNvPr>
              <p:cNvPicPr/>
              <p:nvPr/>
            </p:nvPicPr>
            <p:blipFill>
              <a:blip r:embed="rId5"/>
              <a:stretch>
                <a:fillRect/>
              </a:stretch>
            </p:blipFill>
            <p:spPr>
              <a:xfrm>
                <a:off x="7176240" y="2708952"/>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18" name="Ink 17">
                <a:extLst>
                  <a:ext uri="{FF2B5EF4-FFF2-40B4-BE49-F238E27FC236}">
                    <a16:creationId xmlns:a16="http://schemas.microsoft.com/office/drawing/2014/main" id="{73A9B50E-8658-465E-AEAA-D97CD87BB40D}"/>
                  </a:ext>
                </a:extLst>
              </p14:cNvPr>
              <p14:cNvContentPartPr/>
              <p14:nvPr/>
            </p14:nvContentPartPr>
            <p14:xfrm>
              <a:off x="7266240" y="2888952"/>
              <a:ext cx="360" cy="360"/>
            </p14:xfrm>
          </p:contentPart>
        </mc:Choice>
        <mc:Fallback xmlns="">
          <p:pic>
            <p:nvPicPr>
              <p:cNvPr id="18" name="Ink 17">
                <a:extLst>
                  <a:ext uri="{FF2B5EF4-FFF2-40B4-BE49-F238E27FC236}">
                    <a16:creationId xmlns:a16="http://schemas.microsoft.com/office/drawing/2014/main" id="{73A9B50E-8658-465E-AEAA-D97CD87BB40D}"/>
                  </a:ext>
                </a:extLst>
              </p:cNvPr>
              <p:cNvPicPr/>
              <p:nvPr/>
            </p:nvPicPr>
            <p:blipFill>
              <a:blip r:embed="rId5"/>
              <a:stretch>
                <a:fillRect/>
              </a:stretch>
            </p:blipFill>
            <p:spPr>
              <a:xfrm>
                <a:off x="7176240" y="2708952"/>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19" name="Ink 18">
                <a:extLst>
                  <a:ext uri="{FF2B5EF4-FFF2-40B4-BE49-F238E27FC236}">
                    <a16:creationId xmlns:a16="http://schemas.microsoft.com/office/drawing/2014/main" id="{329C95BA-F81E-F99B-4BF2-F62AECFA21A6}"/>
                  </a:ext>
                </a:extLst>
              </p14:cNvPr>
              <p14:cNvContentPartPr/>
              <p14:nvPr/>
            </p14:nvContentPartPr>
            <p14:xfrm>
              <a:off x="6680880" y="2877072"/>
              <a:ext cx="360" cy="360"/>
            </p14:xfrm>
          </p:contentPart>
        </mc:Choice>
        <mc:Fallback xmlns="">
          <p:pic>
            <p:nvPicPr>
              <p:cNvPr id="19" name="Ink 18">
                <a:extLst>
                  <a:ext uri="{FF2B5EF4-FFF2-40B4-BE49-F238E27FC236}">
                    <a16:creationId xmlns:a16="http://schemas.microsoft.com/office/drawing/2014/main" id="{329C95BA-F81E-F99B-4BF2-F62AECFA21A6}"/>
                  </a:ext>
                </a:extLst>
              </p:cNvPr>
              <p:cNvPicPr/>
              <p:nvPr/>
            </p:nvPicPr>
            <p:blipFill>
              <a:blip r:embed="rId5"/>
              <a:stretch>
                <a:fillRect/>
              </a:stretch>
            </p:blipFill>
            <p:spPr>
              <a:xfrm>
                <a:off x="6590880" y="2697072"/>
                <a:ext cx="180000" cy="360000"/>
              </a:xfrm>
              <a:prstGeom prst="rect">
                <a:avLst/>
              </a:prstGeom>
            </p:spPr>
          </p:pic>
        </mc:Fallback>
      </mc:AlternateContent>
    </p:spTree>
    <p:custDataLst>
      <p:tags r:id="rId1"/>
    </p:custDataLst>
    <p:extLst>
      <p:ext uri="{BB962C8B-B14F-4D97-AF65-F5344CB8AC3E}">
        <p14:creationId xmlns:p14="http://schemas.microsoft.com/office/powerpoint/2010/main" val="145324119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E48DC5-8A48-2A34-31B9-FC8CB168CAED}"/>
              </a:ext>
            </a:extLst>
          </p:cNvPr>
          <p:cNvSpPr>
            <a:spLocks noGrp="1"/>
          </p:cNvSpPr>
          <p:nvPr>
            <p:ph type="title"/>
          </p:nvPr>
        </p:nvSpPr>
        <p:spPr>
          <a:xfrm>
            <a:off x="733926" y="304965"/>
            <a:ext cx="8565109" cy="1325563"/>
          </a:xfrm>
        </p:spPr>
        <p:txBody>
          <a:bodyPr anchor="ctr">
            <a:normAutofit/>
          </a:bodyPr>
          <a:lstStyle/>
          <a:p>
            <a:r>
              <a:rPr lang="en-US" dirty="0"/>
              <a:t>EXECUTIVE SUMMARY</a:t>
            </a:r>
          </a:p>
        </p:txBody>
      </p:sp>
      <p:sp>
        <p:nvSpPr>
          <p:cNvPr id="3" name="Content Placeholder 2">
            <a:extLst>
              <a:ext uri="{FF2B5EF4-FFF2-40B4-BE49-F238E27FC236}">
                <a16:creationId xmlns:a16="http://schemas.microsoft.com/office/drawing/2014/main" id="{06B44109-938A-7A63-C3A8-FDDB5C799EA5}"/>
              </a:ext>
            </a:extLst>
          </p:cNvPr>
          <p:cNvSpPr txBox="1">
            <a:spLocks/>
          </p:cNvSpPr>
          <p:nvPr/>
        </p:nvSpPr>
        <p:spPr>
          <a:xfrm>
            <a:off x="4389349" y="1630528"/>
            <a:ext cx="7068725" cy="446544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a:buChar char="•"/>
              <a:defRPr sz="2800" kern="1200">
                <a:solidFill>
                  <a:srgbClr val="262626"/>
                </a:solidFill>
                <a:latin typeface="IBM Plex Sans" panose="020B0503050203000203" pitchFamily="34" charset="0"/>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rgbClr val="262626"/>
                </a:solidFill>
                <a:latin typeface="IBM Plex Sans" panose="020B0503050203000203" pitchFamily="34" charset="0"/>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rgbClr val="262626"/>
                </a:solidFill>
                <a:latin typeface="IBM Plex Sans" panose="020B0503050203000203" pitchFamily="34" charset="0"/>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rgbClr val="525252"/>
                </a:solidFill>
                <a:latin typeface="IBM Plex Sans" panose="020B0503050203000203" pitchFamily="34" charset="0"/>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rgbClr val="525252"/>
                </a:solidFill>
                <a:latin typeface="IBM Plex Sans" panose="020B0503050203000203" pitchFamily="34"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buNone/>
            </a:pPr>
            <a:endParaRPr lang="en-US" sz="2200" dirty="0"/>
          </a:p>
        </p:txBody>
      </p:sp>
      <p:pic>
        <p:nvPicPr>
          <p:cNvPr id="7" name="Picture 6">
            <a:extLst>
              <a:ext uri="{FF2B5EF4-FFF2-40B4-BE49-F238E27FC236}">
                <a16:creationId xmlns:a16="http://schemas.microsoft.com/office/drawing/2014/main" id="{DA6795A9-FE70-B337-8B17-B79ACA60A9C1}"/>
              </a:ext>
            </a:extLst>
          </p:cNvPr>
          <p:cNvPicPr>
            <a:picLocks noChangeAspect="1"/>
          </p:cNvPicPr>
          <p:nvPr/>
        </p:nvPicPr>
        <p:blipFill>
          <a:blip r:embed="rId3"/>
          <a:stretch>
            <a:fillRect/>
          </a:stretch>
        </p:blipFill>
        <p:spPr>
          <a:xfrm>
            <a:off x="327552" y="2100924"/>
            <a:ext cx="3194581" cy="3194581"/>
          </a:xfrm>
          <a:prstGeom prst="rect">
            <a:avLst/>
          </a:prstGeom>
        </p:spPr>
      </p:pic>
      <p:sp>
        <p:nvSpPr>
          <p:cNvPr id="5" name="TextBox 4">
            <a:extLst>
              <a:ext uri="{FF2B5EF4-FFF2-40B4-BE49-F238E27FC236}">
                <a16:creationId xmlns:a16="http://schemas.microsoft.com/office/drawing/2014/main" id="{B09A8295-B6B1-725A-A3CA-8E231F2EAD98}"/>
              </a:ext>
            </a:extLst>
          </p:cNvPr>
          <p:cNvSpPr txBox="1"/>
          <p:nvPr/>
        </p:nvSpPr>
        <p:spPr>
          <a:xfrm>
            <a:off x="3522133" y="1672562"/>
            <a:ext cx="7653867" cy="3416320"/>
          </a:xfrm>
          <a:prstGeom prst="rect">
            <a:avLst/>
          </a:prstGeom>
          <a:noFill/>
        </p:spPr>
        <p:txBody>
          <a:bodyPr wrap="square">
            <a:spAutoFit/>
          </a:bodyPr>
          <a:lstStyle/>
          <a:p>
            <a:pPr>
              <a:buNone/>
            </a:pPr>
            <a:endParaRPr lang="en-US" dirty="0"/>
          </a:p>
          <a:p>
            <a:pPr>
              <a:buNone/>
            </a:pPr>
            <a:r>
              <a:rPr lang="en-US" b="1" dirty="0">
                <a:effectLst/>
              </a:rPr>
              <a:t>Python is the future</a:t>
            </a:r>
            <a:r>
              <a:rPr lang="en-US" dirty="0">
                <a:effectLst/>
              </a:rPr>
              <a:t> JavaScript leads today, but Python ranks #1 in what developers want to learn next — driven by AI and data science.</a:t>
            </a:r>
          </a:p>
          <a:p>
            <a:pPr>
              <a:buNone/>
            </a:pPr>
            <a:r>
              <a:rPr lang="en-US" b="1" dirty="0">
                <a:effectLst/>
              </a:rPr>
              <a:t>AI is already mainstream</a:t>
            </a:r>
            <a:r>
              <a:rPr lang="en-US" dirty="0">
                <a:effectLst/>
              </a:rPr>
              <a:t> 57% of developers use AI tools daily. Not a future trend — the present reality.</a:t>
            </a:r>
          </a:p>
          <a:p>
            <a:pPr>
              <a:buNone/>
            </a:pPr>
            <a:r>
              <a:rPr lang="en-US" b="1" dirty="0">
                <a:effectLst/>
              </a:rPr>
              <a:t> Remote work is permanent</a:t>
            </a:r>
            <a:r>
              <a:rPr lang="en-US" dirty="0">
                <a:effectLst/>
              </a:rPr>
              <a:t> 76% work remotely or hybrid. Cloud-native infrastructure is now the baseline.</a:t>
            </a:r>
          </a:p>
          <a:p>
            <a:pPr>
              <a:buNone/>
            </a:pPr>
            <a:r>
              <a:rPr lang="en-US" b="1" dirty="0">
                <a:effectLst/>
              </a:rPr>
              <a:t> PostgreSQL overtook MySQL</a:t>
            </a:r>
            <a:r>
              <a:rPr lang="en-US" dirty="0">
                <a:effectLst/>
              </a:rPr>
              <a:t> Open-source, enterprise-grade databases are winning. Cloud databases like </a:t>
            </a:r>
            <a:r>
              <a:rPr lang="en-US" dirty="0" err="1">
                <a:effectLst/>
              </a:rPr>
              <a:t>BigQuery</a:t>
            </a:r>
            <a:r>
              <a:rPr lang="en-US" dirty="0">
                <a:effectLst/>
              </a:rPr>
              <a:t> are rising fast.</a:t>
            </a:r>
          </a:p>
          <a:p>
            <a:pPr>
              <a:buNone/>
            </a:pPr>
            <a:r>
              <a:rPr lang="en-US" b="1" dirty="0">
                <a:effectLst/>
              </a:rPr>
              <a:t>Developers are pivoting to data</a:t>
            </a:r>
            <a:r>
              <a:rPr lang="en-US" dirty="0">
                <a:effectLst/>
              </a:rPr>
              <a:t> Frontend is declining. Python, Rust, SQL, and cloud are rising — the industry is shifting toward data engineering and AI.</a:t>
            </a:r>
          </a:p>
        </p:txBody>
      </p:sp>
    </p:spTree>
    <p:custDataLst>
      <p:tags r:id="rId1"/>
    </p:custDataLst>
    <p:extLst>
      <p:ext uri="{BB962C8B-B14F-4D97-AF65-F5344CB8AC3E}">
        <p14:creationId xmlns:p14="http://schemas.microsoft.com/office/powerpoint/2010/main" val="155538542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676FB0-8465-86A8-332A-32CC35A5D28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2B7DC8D-244C-F7EC-5F66-ACB99A7D61C9}"/>
              </a:ext>
            </a:extLst>
          </p:cNvPr>
          <p:cNvSpPr>
            <a:spLocks noGrp="1"/>
          </p:cNvSpPr>
          <p:nvPr>
            <p:ph type="title"/>
          </p:nvPr>
        </p:nvSpPr>
        <p:spPr>
          <a:xfrm>
            <a:off x="770021" y="365125"/>
            <a:ext cx="7647865" cy="1325563"/>
          </a:xfrm>
        </p:spPr>
        <p:txBody>
          <a:bodyPr anchor="ctr">
            <a:normAutofit/>
          </a:bodyPr>
          <a:lstStyle/>
          <a:p>
            <a:r>
              <a:rPr lang="en-US" dirty="0"/>
              <a:t>INTRODUCTION</a:t>
            </a:r>
          </a:p>
        </p:txBody>
      </p:sp>
      <p:pic>
        <p:nvPicPr>
          <p:cNvPr id="3" name="Picture 2">
            <a:extLst>
              <a:ext uri="{FF2B5EF4-FFF2-40B4-BE49-F238E27FC236}">
                <a16:creationId xmlns:a16="http://schemas.microsoft.com/office/drawing/2014/main" id="{BBCC879F-E713-B75A-D2DE-0953EB0EA469}"/>
              </a:ext>
            </a:extLst>
          </p:cNvPr>
          <p:cNvPicPr>
            <a:picLocks noChangeAspect="1"/>
          </p:cNvPicPr>
          <p:nvPr/>
        </p:nvPicPr>
        <p:blipFill>
          <a:blip r:embed="rId3"/>
          <a:stretch>
            <a:fillRect/>
          </a:stretch>
        </p:blipFill>
        <p:spPr>
          <a:xfrm>
            <a:off x="770021" y="2306391"/>
            <a:ext cx="3054361" cy="3054361"/>
          </a:xfrm>
          <a:prstGeom prst="rect">
            <a:avLst/>
          </a:prstGeom>
        </p:spPr>
      </p:pic>
      <p:sp>
        <p:nvSpPr>
          <p:cNvPr id="4" name="Content Placeholder 2">
            <a:extLst>
              <a:ext uri="{FF2B5EF4-FFF2-40B4-BE49-F238E27FC236}">
                <a16:creationId xmlns:a16="http://schemas.microsoft.com/office/drawing/2014/main" id="{ED35578F-30C9-4905-FD4E-7366FEFAEA7F}"/>
              </a:ext>
            </a:extLst>
          </p:cNvPr>
          <p:cNvSpPr txBox="1">
            <a:spLocks/>
          </p:cNvSpPr>
          <p:nvPr/>
        </p:nvSpPr>
        <p:spPr>
          <a:xfrm>
            <a:off x="4285075" y="1825625"/>
            <a:ext cx="7068725"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a:buChar char="•"/>
              <a:defRPr sz="2800" kern="1200">
                <a:solidFill>
                  <a:srgbClr val="0070C0"/>
                </a:solidFill>
                <a:latin typeface="IBM Plex Mono Text" panose="020B0509050203000203" pitchFamily="49" charset="0"/>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rgbClr val="0070C0"/>
                </a:solidFill>
                <a:latin typeface="IBM Plex Mono Text" panose="020B0509050203000203" pitchFamily="49" charset="0"/>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rgbClr val="0070C0"/>
                </a:solidFill>
                <a:latin typeface="IBM Plex Mono Text" panose="020B0509050203000203" pitchFamily="49" charset="0"/>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rgbClr val="0070C0"/>
                </a:solidFill>
                <a:latin typeface="IBM Plex Mono Text" panose="020B0509050203000203" pitchFamily="49" charset="0"/>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rgbClr val="0070C0"/>
                </a:solidFill>
                <a:latin typeface="IBM Plex Mono Text" panose="020B0509050203000203" pitchFamily="49"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buNone/>
            </a:pPr>
            <a:endParaRPr lang="en-US" sz="1800" dirty="0">
              <a:solidFill>
                <a:schemeClr val="tx1"/>
              </a:solidFill>
            </a:endParaRPr>
          </a:p>
        </p:txBody>
      </p:sp>
      <p:sp>
        <p:nvSpPr>
          <p:cNvPr id="6" name="TextBox 5">
            <a:extLst>
              <a:ext uri="{FF2B5EF4-FFF2-40B4-BE49-F238E27FC236}">
                <a16:creationId xmlns:a16="http://schemas.microsoft.com/office/drawing/2014/main" id="{3FE4DCBB-EFE0-EC9A-2801-693558041F10}"/>
              </a:ext>
            </a:extLst>
          </p:cNvPr>
          <p:cNvSpPr txBox="1"/>
          <p:nvPr/>
        </p:nvSpPr>
        <p:spPr>
          <a:xfrm>
            <a:off x="3824382" y="2306390"/>
            <a:ext cx="7298543" cy="3139321"/>
          </a:xfrm>
          <a:prstGeom prst="rect">
            <a:avLst/>
          </a:prstGeom>
          <a:noFill/>
        </p:spPr>
        <p:txBody>
          <a:bodyPr wrap="square">
            <a:spAutoFit/>
          </a:bodyPr>
          <a:lstStyle/>
          <a:p>
            <a:pPr>
              <a:buNone/>
            </a:pPr>
            <a:r>
              <a:rPr lang="en-US" b="1" dirty="0"/>
              <a:t>Where developers are today? </a:t>
            </a:r>
            <a:r>
              <a:rPr lang="en-US" dirty="0"/>
              <a:t> Current technology landscape — languages, databases, platforms, and frameworks powering the industry in 2024.</a:t>
            </a:r>
          </a:p>
          <a:p>
            <a:pPr>
              <a:buNone/>
            </a:pPr>
            <a:r>
              <a:rPr lang="en-US" b="1" dirty="0"/>
              <a:t>Where developers are heading?</a:t>
            </a:r>
            <a:r>
              <a:rPr lang="en-US" dirty="0"/>
              <a:t> Future trends — what the global developer community wants to learn next and why it matters.</a:t>
            </a:r>
          </a:p>
          <a:p>
            <a:pPr>
              <a:buNone/>
            </a:pPr>
            <a:r>
              <a:rPr lang="en-US" b="1" dirty="0"/>
              <a:t>Who the developers are?</a:t>
            </a:r>
            <a:r>
              <a:rPr lang="en-US" dirty="0"/>
              <a:t> Demographics — age, education, employment, and work arrangements of 18,845 survey respondents worldwide.</a:t>
            </a:r>
          </a:p>
          <a:p>
            <a:pPr>
              <a:buNone/>
            </a:pPr>
            <a:r>
              <a:rPr lang="en-US" b="1" dirty="0"/>
              <a:t>What it means for your organization?</a:t>
            </a:r>
            <a:r>
              <a:rPr lang="en-US" dirty="0"/>
              <a:t> Strategic recommendations — actionable insights to align your talent and technology strategy with where the industry is going.</a:t>
            </a:r>
          </a:p>
        </p:txBody>
      </p:sp>
    </p:spTree>
    <p:custDataLst>
      <p:tags r:id="rId1"/>
    </p:custDataLst>
    <p:extLst>
      <p:ext uri="{BB962C8B-B14F-4D97-AF65-F5344CB8AC3E}">
        <p14:creationId xmlns:p14="http://schemas.microsoft.com/office/powerpoint/2010/main" val="20408633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11DCFD-8450-17AD-05D4-229BA1C66CC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85AB7E7-7534-10CB-A359-88015C285B97}"/>
              </a:ext>
            </a:extLst>
          </p:cNvPr>
          <p:cNvSpPr>
            <a:spLocks noGrp="1"/>
          </p:cNvSpPr>
          <p:nvPr>
            <p:ph type="title"/>
          </p:nvPr>
        </p:nvSpPr>
        <p:spPr>
          <a:xfrm>
            <a:off x="782053" y="681037"/>
            <a:ext cx="10571747" cy="685799"/>
          </a:xfrm>
        </p:spPr>
        <p:txBody>
          <a:bodyPr anchor="ctr">
            <a:normAutofit/>
          </a:bodyPr>
          <a:lstStyle/>
          <a:p>
            <a:r>
              <a:rPr lang="en-US" dirty="0"/>
              <a:t>METHODOLOGY</a:t>
            </a:r>
          </a:p>
        </p:txBody>
      </p:sp>
      <p:sp>
        <p:nvSpPr>
          <p:cNvPr id="3" name="Content Placeholder 2">
            <a:extLst>
              <a:ext uri="{FF2B5EF4-FFF2-40B4-BE49-F238E27FC236}">
                <a16:creationId xmlns:a16="http://schemas.microsoft.com/office/drawing/2014/main" id="{5EF8C842-232A-AE37-3471-90353781809D}"/>
              </a:ext>
            </a:extLst>
          </p:cNvPr>
          <p:cNvSpPr txBox="1">
            <a:spLocks/>
          </p:cNvSpPr>
          <p:nvPr/>
        </p:nvSpPr>
        <p:spPr>
          <a:xfrm>
            <a:off x="4285075" y="1680153"/>
            <a:ext cx="7068725" cy="4351338"/>
          </a:xfrm>
          <a:prstGeom prst="rect">
            <a:avLst/>
          </a:prstGeom>
        </p:spPr>
        <p:txBody>
          <a:bodyPr vert="horz" lIns="91440" tIns="45720" rIns="91440" bIns="45720" rtlCol="0">
            <a:normAutofit fontScale="92500"/>
          </a:bodyPr>
          <a:lstStyle>
            <a:lvl1pPr marL="228600" indent="-228600" algn="l" defTabSz="914400" rtl="0" eaLnBrk="1" latinLnBrk="0" hangingPunct="1">
              <a:lnSpc>
                <a:spcPct val="90000"/>
              </a:lnSpc>
              <a:spcBef>
                <a:spcPts val="1000"/>
              </a:spcBef>
              <a:buFont typeface="Arial"/>
              <a:buChar char="•"/>
              <a:defRPr sz="2800" kern="1200">
                <a:solidFill>
                  <a:srgbClr val="262626"/>
                </a:solidFill>
                <a:latin typeface="IBM Plex Sans" panose="020B0503050203000203" pitchFamily="34" charset="0"/>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rgbClr val="262626"/>
                </a:solidFill>
                <a:latin typeface="IBM Plex Sans" panose="020B0503050203000203" pitchFamily="34" charset="0"/>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rgbClr val="262626"/>
                </a:solidFill>
                <a:latin typeface="IBM Plex Sans" panose="020B0503050203000203" pitchFamily="34" charset="0"/>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rgbClr val="525252"/>
                </a:solidFill>
                <a:latin typeface="IBM Plex Sans" panose="020B0503050203000203" pitchFamily="34" charset="0"/>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rgbClr val="525252"/>
                </a:solidFill>
                <a:latin typeface="IBM Plex Sans" panose="020B0503050203000203" pitchFamily="34"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buNone/>
            </a:pPr>
            <a:r>
              <a:rPr lang="en-US" sz="2400" b="1" dirty="0"/>
              <a:t> Data Source</a:t>
            </a:r>
            <a:r>
              <a:rPr lang="en-US" sz="2400" dirty="0"/>
              <a:t> Stack Overflow Developer Survey 2024 — 18,845 respondents globally across 180+ countries.</a:t>
            </a:r>
          </a:p>
          <a:p>
            <a:pPr marL="0" indent="0">
              <a:buNone/>
            </a:pPr>
            <a:r>
              <a:rPr lang="en-US" sz="2400" b="1" dirty="0"/>
              <a:t>Data Collection</a:t>
            </a:r>
            <a:r>
              <a:rPr lang="en-US" sz="2400" dirty="0"/>
              <a:t> Raw dataset extracted via API call using Python requests library from IBM's cloud storage endpoint.</a:t>
            </a:r>
          </a:p>
          <a:p>
            <a:pPr marL="0" indent="0">
              <a:buNone/>
            </a:pPr>
            <a:r>
              <a:rPr lang="en-US" sz="2400" b="1" dirty="0"/>
              <a:t>Data Wrangling</a:t>
            </a:r>
            <a:r>
              <a:rPr lang="en-US" sz="2400" dirty="0"/>
              <a:t> Cleaned with Python and pandas — removed duplicates, handled missing values, narrowed 114 columns to 13 relevant variables, split multi-value fields using explode().</a:t>
            </a:r>
          </a:p>
          <a:p>
            <a:pPr marL="0" indent="0">
              <a:buNone/>
            </a:pPr>
            <a:r>
              <a:rPr lang="en-US" sz="2400" b="1" dirty="0"/>
              <a:t>Transformation &amp; Visualization</a:t>
            </a:r>
            <a:r>
              <a:rPr lang="en-US" sz="2400" dirty="0"/>
              <a:t> Data transformed using </a:t>
            </a:r>
            <a:r>
              <a:rPr lang="en-US" sz="2400" dirty="0" err="1"/>
              <a:t>dbt</a:t>
            </a:r>
            <a:r>
              <a:rPr lang="en-US" sz="2400" dirty="0"/>
              <a:t> models in PostgreSQL, visualized in Google Looker Studio across 3 interactive dashboards.</a:t>
            </a:r>
          </a:p>
          <a:p>
            <a:pPr marL="0" indent="0">
              <a:buNone/>
            </a:pPr>
            <a:endParaRPr lang="en-US" sz="2200" dirty="0"/>
          </a:p>
        </p:txBody>
      </p:sp>
      <p:pic>
        <p:nvPicPr>
          <p:cNvPr id="4" name="Picture 3">
            <a:extLst>
              <a:ext uri="{FF2B5EF4-FFF2-40B4-BE49-F238E27FC236}">
                <a16:creationId xmlns:a16="http://schemas.microsoft.com/office/drawing/2014/main" id="{280CF71F-8A03-DAC7-4BC2-F05644ECBFFF}"/>
              </a:ext>
            </a:extLst>
          </p:cNvPr>
          <p:cNvPicPr>
            <a:picLocks noChangeAspect="1"/>
          </p:cNvPicPr>
          <p:nvPr/>
        </p:nvPicPr>
        <p:blipFill>
          <a:blip r:embed="rId3"/>
          <a:stretch>
            <a:fillRect/>
          </a:stretch>
        </p:blipFill>
        <p:spPr>
          <a:xfrm>
            <a:off x="979655" y="1831709"/>
            <a:ext cx="3194581" cy="3194581"/>
          </a:xfrm>
          <a:prstGeom prst="rect">
            <a:avLst/>
          </a:prstGeom>
        </p:spPr>
      </p:pic>
    </p:spTree>
    <p:custDataLst>
      <p:tags r:id="rId1"/>
    </p:custDataLst>
    <p:extLst>
      <p:ext uri="{BB962C8B-B14F-4D97-AF65-F5344CB8AC3E}">
        <p14:creationId xmlns:p14="http://schemas.microsoft.com/office/powerpoint/2010/main" val="37916925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947B35-92B8-C737-3DEB-4A57887A190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D09CC39-D393-D59D-E066-37C17FD3C522}"/>
              </a:ext>
            </a:extLst>
          </p:cNvPr>
          <p:cNvSpPr>
            <a:spLocks noGrp="1"/>
          </p:cNvSpPr>
          <p:nvPr>
            <p:ph type="title"/>
          </p:nvPr>
        </p:nvSpPr>
        <p:spPr>
          <a:xfrm>
            <a:off x="782053" y="398033"/>
            <a:ext cx="10571747" cy="1091735"/>
          </a:xfrm>
        </p:spPr>
        <p:txBody>
          <a:bodyPr anchor="ctr">
            <a:normAutofit/>
          </a:bodyPr>
          <a:lstStyle/>
          <a:p>
            <a:r>
              <a:rPr lang="en-US" dirty="0"/>
              <a:t>Results</a:t>
            </a:r>
          </a:p>
        </p:txBody>
      </p:sp>
      <p:sp>
        <p:nvSpPr>
          <p:cNvPr id="3" name="Content Placeholder 2">
            <a:extLst>
              <a:ext uri="{FF2B5EF4-FFF2-40B4-BE49-F238E27FC236}">
                <a16:creationId xmlns:a16="http://schemas.microsoft.com/office/drawing/2014/main" id="{E000DDB6-5B82-F3F8-80C1-FE555825BAF5}"/>
              </a:ext>
            </a:extLst>
          </p:cNvPr>
          <p:cNvSpPr txBox="1">
            <a:spLocks/>
          </p:cNvSpPr>
          <p:nvPr/>
        </p:nvSpPr>
        <p:spPr>
          <a:xfrm>
            <a:off x="4285075" y="1680153"/>
            <a:ext cx="7068725"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a:buChar char="•"/>
              <a:defRPr sz="2800" kern="1200">
                <a:solidFill>
                  <a:srgbClr val="262626"/>
                </a:solidFill>
                <a:latin typeface="IBM Plex Sans" panose="020B0503050203000203" pitchFamily="34" charset="0"/>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rgbClr val="262626"/>
                </a:solidFill>
                <a:latin typeface="IBM Plex Sans" panose="020B0503050203000203" pitchFamily="34" charset="0"/>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rgbClr val="262626"/>
                </a:solidFill>
                <a:latin typeface="IBM Plex Sans" panose="020B0503050203000203" pitchFamily="34" charset="0"/>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rgbClr val="525252"/>
                </a:solidFill>
                <a:latin typeface="IBM Plex Sans" panose="020B0503050203000203" pitchFamily="34" charset="0"/>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rgbClr val="525252"/>
                </a:solidFill>
                <a:latin typeface="IBM Plex Sans" panose="020B0503050203000203" pitchFamily="34"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buNone/>
            </a:pPr>
            <a:endParaRPr lang="en-US" sz="2200" dirty="0"/>
          </a:p>
        </p:txBody>
      </p:sp>
      <p:pic>
        <p:nvPicPr>
          <p:cNvPr id="6" name="Graphic 5" descr="Presentation with pie chart with solid fill">
            <a:extLst>
              <a:ext uri="{FF2B5EF4-FFF2-40B4-BE49-F238E27FC236}">
                <a16:creationId xmlns:a16="http://schemas.microsoft.com/office/drawing/2014/main" id="{1D5615A7-55B9-E0F5-0A84-57A35A57B05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69468" y="2101175"/>
            <a:ext cx="2972979" cy="2972979"/>
          </a:xfrm>
          <a:prstGeom prst="rect">
            <a:avLst/>
          </a:prstGeom>
        </p:spPr>
      </p:pic>
      <p:sp>
        <p:nvSpPr>
          <p:cNvPr id="8" name="TextBox 7">
            <a:extLst>
              <a:ext uri="{FF2B5EF4-FFF2-40B4-BE49-F238E27FC236}">
                <a16:creationId xmlns:a16="http://schemas.microsoft.com/office/drawing/2014/main" id="{9C6D1E5C-FB56-616C-9776-6EF59DA07045}"/>
              </a:ext>
            </a:extLst>
          </p:cNvPr>
          <p:cNvSpPr txBox="1"/>
          <p:nvPr/>
        </p:nvSpPr>
        <p:spPr>
          <a:xfrm>
            <a:off x="3818965" y="3126000"/>
            <a:ext cx="7413336" cy="461665"/>
          </a:xfrm>
          <a:prstGeom prst="rect">
            <a:avLst/>
          </a:prstGeom>
          <a:noFill/>
        </p:spPr>
        <p:txBody>
          <a:bodyPr wrap="square">
            <a:spAutoFit/>
          </a:bodyPr>
          <a:lstStyle/>
          <a:p>
            <a:pPr marL="0" indent="0">
              <a:buFont typeface="Arial"/>
              <a:buNone/>
            </a:pPr>
            <a:r>
              <a:rPr lang="en-US" sz="2400" dirty="0"/>
              <a:t>Our results have been ….. </a:t>
            </a:r>
          </a:p>
        </p:txBody>
      </p:sp>
    </p:spTree>
    <p:custDataLst>
      <p:tags r:id="rId1"/>
    </p:custDataLst>
    <p:extLst>
      <p:ext uri="{BB962C8B-B14F-4D97-AF65-F5344CB8AC3E}">
        <p14:creationId xmlns:p14="http://schemas.microsoft.com/office/powerpoint/2010/main" val="15013274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FC4E31-32FC-4A23-CEF9-98F0BB9F13E9}"/>
            </a:ext>
          </a:extLst>
        </p:cNvPr>
        <p:cNvGrpSpPr/>
        <p:nvPr/>
      </p:nvGrpSpPr>
      <p:grpSpPr>
        <a:xfrm>
          <a:off x="0" y="0"/>
          <a:ext cx="0" cy="0"/>
          <a:chOff x="0" y="0"/>
          <a:chExt cx="0" cy="0"/>
        </a:xfrm>
      </p:grpSpPr>
      <p:sp>
        <p:nvSpPr>
          <p:cNvPr id="9" name="Title 1">
            <a:extLst>
              <a:ext uri="{FF2B5EF4-FFF2-40B4-BE49-F238E27FC236}">
                <a16:creationId xmlns:a16="http://schemas.microsoft.com/office/drawing/2014/main" id="{8334EF5D-2E2A-7FE5-06C6-01ACAB1F420F}"/>
              </a:ext>
            </a:extLst>
          </p:cNvPr>
          <p:cNvSpPr>
            <a:spLocks noGrp="1"/>
          </p:cNvSpPr>
          <p:nvPr>
            <p:ph type="title"/>
          </p:nvPr>
        </p:nvSpPr>
        <p:spPr>
          <a:xfrm>
            <a:off x="633845" y="383051"/>
            <a:ext cx="5833456" cy="1325563"/>
          </a:xfrm>
        </p:spPr>
        <p:txBody>
          <a:bodyPr anchor="ctr">
            <a:normAutofit/>
          </a:bodyPr>
          <a:lstStyle/>
          <a:p>
            <a:r>
              <a:rPr lang="en-US" dirty="0"/>
              <a:t> JOB POSTINGS</a:t>
            </a:r>
          </a:p>
        </p:txBody>
      </p:sp>
      <p:sp>
        <p:nvSpPr>
          <p:cNvPr id="10" name="Content Placeholder 2">
            <a:extLst>
              <a:ext uri="{FF2B5EF4-FFF2-40B4-BE49-F238E27FC236}">
                <a16:creationId xmlns:a16="http://schemas.microsoft.com/office/drawing/2014/main" id="{83F79416-0AFB-FC80-07E8-3CF2B4E7E798}"/>
              </a:ext>
            </a:extLst>
          </p:cNvPr>
          <p:cNvSpPr txBox="1">
            <a:spLocks/>
          </p:cNvSpPr>
          <p:nvPr/>
        </p:nvSpPr>
        <p:spPr>
          <a:xfrm>
            <a:off x="914400" y="2191385"/>
            <a:ext cx="10489276" cy="286275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a:buChar char="•"/>
              <a:defRPr sz="2800" kern="1200">
                <a:solidFill>
                  <a:srgbClr val="262626"/>
                </a:solidFill>
                <a:latin typeface="IBM Plex Sans" panose="020B0503050203000203" pitchFamily="34" charset="0"/>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rgbClr val="262626"/>
                </a:solidFill>
                <a:latin typeface="IBM Plex Sans" panose="020B0503050203000203" pitchFamily="34" charset="0"/>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rgbClr val="262626"/>
                </a:solidFill>
                <a:latin typeface="IBM Plex Sans" panose="020B0503050203000203" pitchFamily="34" charset="0"/>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rgbClr val="525252"/>
                </a:solidFill>
                <a:latin typeface="IBM Plex Sans" panose="020B0503050203000203" pitchFamily="34" charset="0"/>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rgbClr val="525252"/>
                </a:solidFill>
                <a:latin typeface="IBM Plex Sans" panose="020B0503050203000203" pitchFamily="34"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buFont typeface="Arial"/>
              <a:buNone/>
            </a:pPr>
            <a:endParaRPr lang="en-US" sz="2200" dirty="0"/>
          </a:p>
        </p:txBody>
      </p:sp>
      <p:pic>
        <p:nvPicPr>
          <p:cNvPr id="3" name="Picture 2">
            <a:extLst>
              <a:ext uri="{FF2B5EF4-FFF2-40B4-BE49-F238E27FC236}">
                <a16:creationId xmlns:a16="http://schemas.microsoft.com/office/drawing/2014/main" id="{D6ACD805-9885-14F3-B211-2076E0C8E1D7}"/>
              </a:ext>
            </a:extLst>
          </p:cNvPr>
          <p:cNvPicPr>
            <a:picLocks noChangeAspect="1"/>
          </p:cNvPicPr>
          <p:nvPr/>
        </p:nvPicPr>
        <p:blipFill>
          <a:blip r:embed="rId3"/>
          <a:stretch>
            <a:fillRect/>
          </a:stretch>
        </p:blipFill>
        <p:spPr>
          <a:xfrm>
            <a:off x="1385887" y="2191385"/>
            <a:ext cx="6165795" cy="4047490"/>
          </a:xfrm>
          <a:prstGeom prst="rect">
            <a:avLst/>
          </a:prstGeom>
        </p:spPr>
      </p:pic>
      <p:sp>
        <p:nvSpPr>
          <p:cNvPr id="4" name="TextBox 3">
            <a:extLst>
              <a:ext uri="{FF2B5EF4-FFF2-40B4-BE49-F238E27FC236}">
                <a16:creationId xmlns:a16="http://schemas.microsoft.com/office/drawing/2014/main" id="{C3FCF969-39A6-BE32-6A57-B6425A9B837F}"/>
              </a:ext>
            </a:extLst>
          </p:cNvPr>
          <p:cNvSpPr txBox="1"/>
          <p:nvPr/>
        </p:nvSpPr>
        <p:spPr>
          <a:xfrm>
            <a:off x="7746051" y="3106490"/>
            <a:ext cx="3725917" cy="1754326"/>
          </a:xfrm>
          <a:prstGeom prst="rect">
            <a:avLst/>
          </a:prstGeom>
          <a:noFill/>
        </p:spPr>
        <p:txBody>
          <a:bodyPr wrap="square" rtlCol="0">
            <a:spAutoFit/>
          </a:bodyPr>
          <a:lstStyle/>
          <a:p>
            <a:r>
              <a:rPr lang="en-US" dirty="0"/>
              <a:t>While Python leads in developer learning interest, C++ and Java still dominate actual job market demand — highlighting a gap between what developers want to learn and what employers need.</a:t>
            </a:r>
          </a:p>
        </p:txBody>
      </p:sp>
    </p:spTree>
    <p:custDataLst>
      <p:tags r:id="rId1"/>
    </p:custDataLst>
    <p:extLst>
      <p:ext uri="{BB962C8B-B14F-4D97-AF65-F5344CB8AC3E}">
        <p14:creationId xmlns:p14="http://schemas.microsoft.com/office/powerpoint/2010/main" val="193537382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6DB558-7141-B0CE-D399-712C1073BFD7}"/>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12CF5900-71B3-70B0-7CF1-4A1C535AD04B}"/>
              </a:ext>
            </a:extLst>
          </p:cNvPr>
          <p:cNvSpPr>
            <a:spLocks noGrp="1"/>
          </p:cNvSpPr>
          <p:nvPr>
            <p:ph type="title"/>
          </p:nvPr>
        </p:nvSpPr>
        <p:spPr>
          <a:xfrm>
            <a:off x="758536" y="383051"/>
            <a:ext cx="5708765" cy="1325563"/>
          </a:xfrm>
        </p:spPr>
        <p:txBody>
          <a:bodyPr anchor="ctr">
            <a:normAutofit/>
          </a:bodyPr>
          <a:lstStyle/>
          <a:p>
            <a:r>
              <a:rPr lang="en-US" dirty="0"/>
              <a:t>POPULAR LANGUAGES</a:t>
            </a:r>
          </a:p>
        </p:txBody>
      </p:sp>
      <p:sp>
        <p:nvSpPr>
          <p:cNvPr id="7" name="Content Placeholder 2">
            <a:extLst>
              <a:ext uri="{FF2B5EF4-FFF2-40B4-BE49-F238E27FC236}">
                <a16:creationId xmlns:a16="http://schemas.microsoft.com/office/drawing/2014/main" id="{95B1AABA-34AF-B1F5-3C7F-11AEB9E03637}"/>
              </a:ext>
            </a:extLst>
          </p:cNvPr>
          <p:cNvSpPr txBox="1">
            <a:spLocks/>
          </p:cNvSpPr>
          <p:nvPr/>
        </p:nvSpPr>
        <p:spPr>
          <a:xfrm>
            <a:off x="878305" y="1460939"/>
            <a:ext cx="7656095" cy="359320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a:buChar char="•"/>
              <a:defRPr sz="2800" kern="1200">
                <a:solidFill>
                  <a:srgbClr val="262626"/>
                </a:solidFill>
                <a:latin typeface="IBM Plex Sans" panose="020B0503050203000203" pitchFamily="34" charset="0"/>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rgbClr val="262626"/>
                </a:solidFill>
                <a:latin typeface="IBM Plex Sans" panose="020B0503050203000203" pitchFamily="34" charset="0"/>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rgbClr val="262626"/>
                </a:solidFill>
                <a:latin typeface="IBM Plex Sans" panose="020B0503050203000203" pitchFamily="34" charset="0"/>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rgbClr val="525252"/>
                </a:solidFill>
                <a:latin typeface="IBM Plex Sans" panose="020B0503050203000203" pitchFamily="34" charset="0"/>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rgbClr val="525252"/>
                </a:solidFill>
                <a:latin typeface="IBM Plex Sans" panose="020B0503050203000203" pitchFamily="34"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buFont typeface="Arial"/>
              <a:buNone/>
            </a:pPr>
            <a:endParaRPr lang="en-US" sz="2200" dirty="0"/>
          </a:p>
        </p:txBody>
      </p:sp>
      <p:pic>
        <p:nvPicPr>
          <p:cNvPr id="3" name="Picture 2">
            <a:extLst>
              <a:ext uri="{FF2B5EF4-FFF2-40B4-BE49-F238E27FC236}">
                <a16:creationId xmlns:a16="http://schemas.microsoft.com/office/drawing/2014/main" id="{239D8F38-E214-7308-35A3-AD92D914CF9E}"/>
              </a:ext>
            </a:extLst>
          </p:cNvPr>
          <p:cNvPicPr>
            <a:picLocks noChangeAspect="1"/>
          </p:cNvPicPr>
          <p:nvPr/>
        </p:nvPicPr>
        <p:blipFill>
          <a:blip r:embed="rId3"/>
          <a:stretch>
            <a:fillRect/>
          </a:stretch>
        </p:blipFill>
        <p:spPr>
          <a:xfrm>
            <a:off x="236668" y="1990165"/>
            <a:ext cx="5708765" cy="4248710"/>
          </a:xfrm>
          <a:prstGeom prst="rect">
            <a:avLst/>
          </a:prstGeom>
        </p:spPr>
      </p:pic>
      <p:sp>
        <p:nvSpPr>
          <p:cNvPr id="4" name="TextBox 3">
            <a:extLst>
              <a:ext uri="{FF2B5EF4-FFF2-40B4-BE49-F238E27FC236}">
                <a16:creationId xmlns:a16="http://schemas.microsoft.com/office/drawing/2014/main" id="{3BAF357A-4E50-40F5-98B5-0B9459DA7E4D}"/>
              </a:ext>
            </a:extLst>
          </p:cNvPr>
          <p:cNvSpPr txBox="1"/>
          <p:nvPr/>
        </p:nvSpPr>
        <p:spPr>
          <a:xfrm>
            <a:off x="6325515" y="2329301"/>
            <a:ext cx="4988179" cy="923330"/>
          </a:xfrm>
          <a:prstGeom prst="rect">
            <a:avLst/>
          </a:prstGeom>
          <a:noFill/>
        </p:spPr>
        <p:txBody>
          <a:bodyPr wrap="square" rtlCol="0">
            <a:spAutoFit/>
          </a:bodyPr>
          <a:lstStyle/>
          <a:p>
            <a:r>
              <a:rPr lang="en-US" dirty="0"/>
              <a:t>Python and C++ are great salaries, but Swift is above and beyond every other language with an average salary of $130,801.00.</a:t>
            </a:r>
          </a:p>
        </p:txBody>
      </p:sp>
    </p:spTree>
    <p:custDataLst>
      <p:tags r:id="rId1"/>
    </p:custDataLst>
    <p:extLst>
      <p:ext uri="{BB962C8B-B14F-4D97-AF65-F5344CB8AC3E}">
        <p14:creationId xmlns:p14="http://schemas.microsoft.com/office/powerpoint/2010/main" val="194590253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E27A2E-C667-F6D3-A1E3-47F70603EABA}"/>
            </a:ext>
          </a:extLst>
        </p:cNvPr>
        <p:cNvGrpSpPr/>
        <p:nvPr/>
      </p:nvGrpSpPr>
      <p:grpSpPr>
        <a:xfrm>
          <a:off x="0" y="0"/>
          <a:ext cx="0" cy="0"/>
          <a:chOff x="0" y="0"/>
          <a:chExt cx="0" cy="0"/>
        </a:xfrm>
      </p:grpSpPr>
      <p:sp>
        <p:nvSpPr>
          <p:cNvPr id="7" name="Title 1">
            <a:extLst>
              <a:ext uri="{FF2B5EF4-FFF2-40B4-BE49-F238E27FC236}">
                <a16:creationId xmlns:a16="http://schemas.microsoft.com/office/drawing/2014/main" id="{5539A591-4DF0-3912-FF72-3FD0BD7B9C1F}"/>
              </a:ext>
            </a:extLst>
          </p:cNvPr>
          <p:cNvSpPr>
            <a:spLocks noGrp="1"/>
          </p:cNvSpPr>
          <p:nvPr>
            <p:ph type="title"/>
          </p:nvPr>
        </p:nvSpPr>
        <p:spPr/>
        <p:txBody>
          <a:bodyPr/>
          <a:lstStyle/>
          <a:p>
            <a:r>
              <a:rPr lang="en-US" dirty="0"/>
              <a:t>PROGRAMMING LANGUAGE TRENDS</a:t>
            </a:r>
          </a:p>
        </p:txBody>
      </p:sp>
      <p:sp>
        <p:nvSpPr>
          <p:cNvPr id="8" name="Content Placeholder 2">
            <a:extLst>
              <a:ext uri="{FF2B5EF4-FFF2-40B4-BE49-F238E27FC236}">
                <a16:creationId xmlns:a16="http://schemas.microsoft.com/office/drawing/2014/main" id="{54B8C8AD-F58A-1F17-9CA2-E737E1949923}"/>
              </a:ext>
            </a:extLst>
          </p:cNvPr>
          <p:cNvSpPr>
            <a:spLocks noGrp="1"/>
          </p:cNvSpPr>
          <p:nvPr>
            <p:ph sz="half" idx="1"/>
          </p:nvPr>
        </p:nvSpPr>
        <p:spPr>
          <a:xfrm>
            <a:off x="1985499" y="2369195"/>
            <a:ext cx="2228642" cy="305259"/>
          </a:xfrm>
        </p:spPr>
        <p:txBody>
          <a:bodyPr>
            <a:normAutofit fontScale="47500" lnSpcReduction="20000"/>
          </a:bodyPr>
          <a:lstStyle/>
          <a:p>
            <a:pPr marL="0" indent="0">
              <a:buNone/>
            </a:pPr>
            <a:r>
              <a:rPr lang="en-US" dirty="0"/>
              <a:t>Current Year</a:t>
            </a:r>
          </a:p>
        </p:txBody>
      </p:sp>
      <p:sp>
        <p:nvSpPr>
          <p:cNvPr id="9" name="Content Placeholder 3">
            <a:extLst>
              <a:ext uri="{FF2B5EF4-FFF2-40B4-BE49-F238E27FC236}">
                <a16:creationId xmlns:a16="http://schemas.microsoft.com/office/drawing/2014/main" id="{D9FB3B79-D3E9-99FC-ECF2-28CCBF64752F}"/>
              </a:ext>
            </a:extLst>
          </p:cNvPr>
          <p:cNvSpPr>
            <a:spLocks noGrp="1"/>
          </p:cNvSpPr>
          <p:nvPr>
            <p:ph sz="half" idx="2"/>
          </p:nvPr>
        </p:nvSpPr>
        <p:spPr>
          <a:xfrm>
            <a:off x="7463118" y="2341696"/>
            <a:ext cx="1758142" cy="258868"/>
          </a:xfrm>
        </p:spPr>
        <p:txBody>
          <a:bodyPr>
            <a:normAutofit fontScale="47500" lnSpcReduction="20000"/>
          </a:bodyPr>
          <a:lstStyle/>
          <a:p>
            <a:pPr marL="0" indent="0">
              <a:buNone/>
            </a:pPr>
            <a:r>
              <a:rPr lang="en-US" dirty="0"/>
              <a:t>Next Year</a:t>
            </a:r>
          </a:p>
        </p:txBody>
      </p:sp>
      <p:sp>
        <p:nvSpPr>
          <p:cNvPr id="10" name="Content Placeholder 2">
            <a:extLst>
              <a:ext uri="{FF2B5EF4-FFF2-40B4-BE49-F238E27FC236}">
                <a16:creationId xmlns:a16="http://schemas.microsoft.com/office/drawing/2014/main" id="{2DFAC5CF-1B58-ABB4-D63B-1D931D572459}"/>
              </a:ext>
            </a:extLst>
          </p:cNvPr>
          <p:cNvSpPr txBox="1">
            <a:spLocks/>
          </p:cNvSpPr>
          <p:nvPr/>
        </p:nvSpPr>
        <p:spPr>
          <a:xfrm>
            <a:off x="845473" y="2605804"/>
            <a:ext cx="4614949" cy="367030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a:buChar char="•"/>
              <a:defRPr sz="2800" kern="1200">
                <a:solidFill>
                  <a:srgbClr val="0070C0"/>
                </a:solidFill>
                <a:latin typeface="IBM Plex Mono Text" panose="020B0509050203000203" pitchFamily="49" charset="0"/>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rgbClr val="0070C0"/>
                </a:solidFill>
                <a:latin typeface="IBM Plex Mono Text" panose="020B0509050203000203" pitchFamily="49" charset="0"/>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rgbClr val="0070C0"/>
                </a:solidFill>
                <a:latin typeface="IBM Plex Mono Text" panose="020B0509050203000203" pitchFamily="49" charset="0"/>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rgbClr val="0070C0"/>
                </a:solidFill>
                <a:latin typeface="IBM Plex Mono Text" panose="020B0509050203000203" pitchFamily="49" charset="0"/>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rgbClr val="0070C0"/>
                </a:solidFill>
                <a:latin typeface="IBM Plex Mono Text" panose="020B0509050203000203" pitchFamily="49"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buNone/>
            </a:pPr>
            <a:endParaRPr lang="en-US" sz="2200" dirty="0">
              <a:solidFill>
                <a:schemeClr val="tx1"/>
              </a:solidFill>
            </a:endParaRPr>
          </a:p>
        </p:txBody>
      </p:sp>
      <p:sp>
        <p:nvSpPr>
          <p:cNvPr id="11" name="Content Placeholder 2">
            <a:extLst>
              <a:ext uri="{FF2B5EF4-FFF2-40B4-BE49-F238E27FC236}">
                <a16:creationId xmlns:a16="http://schemas.microsoft.com/office/drawing/2014/main" id="{FBAA9DB0-9EAC-9B25-C7F3-3CE83758128E}"/>
              </a:ext>
            </a:extLst>
          </p:cNvPr>
          <p:cNvSpPr txBox="1">
            <a:spLocks/>
          </p:cNvSpPr>
          <p:nvPr/>
        </p:nvSpPr>
        <p:spPr>
          <a:xfrm>
            <a:off x="6172200" y="2605804"/>
            <a:ext cx="4614949" cy="367030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a:buChar char="•"/>
              <a:defRPr sz="2800" kern="1200">
                <a:solidFill>
                  <a:srgbClr val="0070C0"/>
                </a:solidFill>
                <a:latin typeface="IBM Plex Mono Text" panose="020B0509050203000203" pitchFamily="49" charset="0"/>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rgbClr val="0070C0"/>
                </a:solidFill>
                <a:latin typeface="IBM Plex Mono Text" panose="020B0509050203000203" pitchFamily="49" charset="0"/>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rgbClr val="0070C0"/>
                </a:solidFill>
                <a:latin typeface="IBM Plex Mono Text" panose="020B0509050203000203" pitchFamily="49" charset="0"/>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rgbClr val="0070C0"/>
                </a:solidFill>
                <a:latin typeface="IBM Plex Mono Text" panose="020B0509050203000203" pitchFamily="49" charset="0"/>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rgbClr val="0070C0"/>
                </a:solidFill>
                <a:latin typeface="IBM Plex Mono Text" panose="020B0509050203000203" pitchFamily="49"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buNone/>
            </a:pPr>
            <a:endParaRPr lang="en-US" sz="2200" dirty="0">
              <a:solidFill>
                <a:schemeClr val="tx1"/>
              </a:solidFill>
            </a:endParaRPr>
          </a:p>
        </p:txBody>
      </p:sp>
      <p:sp>
        <p:nvSpPr>
          <p:cNvPr id="3" name="TextBox 2">
            <a:extLst>
              <a:ext uri="{FF2B5EF4-FFF2-40B4-BE49-F238E27FC236}">
                <a16:creationId xmlns:a16="http://schemas.microsoft.com/office/drawing/2014/main" id="{551C5862-9AB9-9679-23B5-A950E973AFB5}"/>
              </a:ext>
            </a:extLst>
          </p:cNvPr>
          <p:cNvSpPr txBox="1"/>
          <p:nvPr/>
        </p:nvSpPr>
        <p:spPr>
          <a:xfrm>
            <a:off x="648630" y="1419893"/>
            <a:ext cx="10429495" cy="830997"/>
          </a:xfrm>
          <a:prstGeom prst="rect">
            <a:avLst/>
          </a:prstGeom>
          <a:noFill/>
        </p:spPr>
        <p:txBody>
          <a:bodyPr wrap="square" rtlCol="0">
            <a:spAutoFit/>
          </a:bodyPr>
          <a:lstStyle/>
          <a:p>
            <a:r>
              <a:rPr lang="en-US" sz="2400" dirty="0"/>
              <a:t>JavaScript and SQL are the top languages that people are interested and want to learn. </a:t>
            </a:r>
          </a:p>
        </p:txBody>
      </p:sp>
      <p:pic>
        <p:nvPicPr>
          <p:cNvPr id="4" name="Picture 3">
            <a:extLst>
              <a:ext uri="{FF2B5EF4-FFF2-40B4-BE49-F238E27FC236}">
                <a16:creationId xmlns:a16="http://schemas.microsoft.com/office/drawing/2014/main" id="{FEF84088-223B-4C53-8A7F-D9F6F96B2C27}"/>
              </a:ext>
            </a:extLst>
          </p:cNvPr>
          <p:cNvPicPr>
            <a:picLocks noChangeAspect="1"/>
          </p:cNvPicPr>
          <p:nvPr/>
        </p:nvPicPr>
        <p:blipFill>
          <a:blip r:embed="rId3"/>
          <a:stretch>
            <a:fillRect/>
          </a:stretch>
        </p:blipFill>
        <p:spPr>
          <a:xfrm>
            <a:off x="648630" y="2691370"/>
            <a:ext cx="4397121" cy="3238781"/>
          </a:xfrm>
          <a:prstGeom prst="rect">
            <a:avLst/>
          </a:prstGeom>
        </p:spPr>
      </p:pic>
      <p:pic>
        <p:nvPicPr>
          <p:cNvPr id="6" name="Picture 5">
            <a:extLst>
              <a:ext uri="{FF2B5EF4-FFF2-40B4-BE49-F238E27FC236}">
                <a16:creationId xmlns:a16="http://schemas.microsoft.com/office/drawing/2014/main" id="{6D02E928-C930-4B9D-A287-6A6E1D6A55CF}"/>
              </a:ext>
            </a:extLst>
          </p:cNvPr>
          <p:cNvPicPr>
            <a:picLocks noChangeAspect="1"/>
          </p:cNvPicPr>
          <p:nvPr/>
        </p:nvPicPr>
        <p:blipFill>
          <a:blip r:embed="rId4"/>
          <a:stretch>
            <a:fillRect/>
          </a:stretch>
        </p:blipFill>
        <p:spPr>
          <a:xfrm>
            <a:off x="5723767" y="2635779"/>
            <a:ext cx="4587638" cy="3261643"/>
          </a:xfrm>
          <a:prstGeom prst="rect">
            <a:avLst/>
          </a:prstGeom>
        </p:spPr>
      </p:pic>
    </p:spTree>
    <p:custDataLst>
      <p:tags r:id="rId1"/>
    </p:custDataLst>
    <p:extLst>
      <p:ext uri="{BB962C8B-B14F-4D97-AF65-F5344CB8AC3E}">
        <p14:creationId xmlns:p14="http://schemas.microsoft.com/office/powerpoint/2010/main" val="368446740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07BF14-48B4-018D-63EE-DF24A5A8CF9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4444DA4-C4B2-2A92-8A96-C527D8D026A7}"/>
              </a:ext>
            </a:extLst>
          </p:cNvPr>
          <p:cNvSpPr>
            <a:spLocks noGrp="1"/>
          </p:cNvSpPr>
          <p:nvPr>
            <p:ph type="title"/>
          </p:nvPr>
        </p:nvSpPr>
        <p:spPr>
          <a:xfrm>
            <a:off x="613065" y="218209"/>
            <a:ext cx="11471562" cy="1330037"/>
          </a:xfrm>
        </p:spPr>
        <p:txBody>
          <a:bodyPr>
            <a:noAutofit/>
          </a:bodyPr>
          <a:lstStyle/>
          <a:p>
            <a:r>
              <a:rPr lang="en-US" dirty="0"/>
              <a:t>PROGRAMMING LANGUAGE TRENDS - FINDINGS &amp; IMPLICATIONS</a:t>
            </a:r>
          </a:p>
        </p:txBody>
      </p:sp>
      <p:sp>
        <p:nvSpPr>
          <p:cNvPr id="3" name="Content Placeholder 2">
            <a:extLst>
              <a:ext uri="{FF2B5EF4-FFF2-40B4-BE49-F238E27FC236}">
                <a16:creationId xmlns:a16="http://schemas.microsoft.com/office/drawing/2014/main" id="{0E85DDBB-31B7-4F81-1E76-90009348F1DE}"/>
              </a:ext>
            </a:extLst>
          </p:cNvPr>
          <p:cNvSpPr>
            <a:spLocks noGrp="1"/>
          </p:cNvSpPr>
          <p:nvPr>
            <p:ph sz="half" idx="1"/>
          </p:nvPr>
        </p:nvSpPr>
        <p:spPr>
          <a:xfrm>
            <a:off x="813816" y="1825625"/>
            <a:ext cx="5181600" cy="4351338"/>
          </a:xfrm>
        </p:spPr>
        <p:txBody>
          <a:bodyPr/>
          <a:lstStyle/>
          <a:p>
            <a:pPr marL="0" indent="0">
              <a:buNone/>
            </a:pPr>
            <a:r>
              <a:rPr lang="en-US" dirty="0"/>
              <a:t>Findings</a:t>
            </a:r>
          </a:p>
          <a:p>
            <a:pPr marL="0" indent="0">
              <a:buNone/>
            </a:pPr>
            <a:endParaRPr lang="en-US" dirty="0"/>
          </a:p>
          <a:p>
            <a:r>
              <a:rPr lang="en-US" dirty="0"/>
              <a:t>JavaScript and SQL dominate</a:t>
            </a:r>
          </a:p>
          <a:p>
            <a:r>
              <a:rPr lang="en-US" dirty="0"/>
              <a:t>HTML/CSS are still very popular</a:t>
            </a:r>
          </a:p>
          <a:p>
            <a:r>
              <a:rPr lang="en-US" dirty="0"/>
              <a:t>Data languages are on the rise</a:t>
            </a:r>
          </a:p>
        </p:txBody>
      </p:sp>
      <p:sp>
        <p:nvSpPr>
          <p:cNvPr id="4" name="Content Placeholder 3">
            <a:extLst>
              <a:ext uri="{FF2B5EF4-FFF2-40B4-BE49-F238E27FC236}">
                <a16:creationId xmlns:a16="http://schemas.microsoft.com/office/drawing/2014/main" id="{D2166E7F-5223-7C98-EBC0-E8FA35940F98}"/>
              </a:ext>
            </a:extLst>
          </p:cNvPr>
          <p:cNvSpPr>
            <a:spLocks noGrp="1"/>
          </p:cNvSpPr>
          <p:nvPr>
            <p:ph sz="half" idx="2"/>
          </p:nvPr>
        </p:nvSpPr>
        <p:spPr>
          <a:xfrm>
            <a:off x="6172200" y="1825625"/>
            <a:ext cx="5181600" cy="4351338"/>
          </a:xfrm>
        </p:spPr>
        <p:txBody>
          <a:bodyPr/>
          <a:lstStyle/>
          <a:p>
            <a:pPr marL="0" indent="0">
              <a:buNone/>
            </a:pPr>
            <a:r>
              <a:rPr lang="en-US" dirty="0"/>
              <a:t>Implications</a:t>
            </a:r>
          </a:p>
          <a:p>
            <a:pPr marL="0" indent="0">
              <a:buNone/>
            </a:pPr>
            <a:endParaRPr lang="en-US" dirty="0"/>
          </a:p>
          <a:p>
            <a:r>
              <a:rPr lang="en-US" dirty="0"/>
              <a:t>JavaScript and SQL aren’t going anywhere</a:t>
            </a:r>
          </a:p>
          <a:p>
            <a:r>
              <a:rPr lang="en-US" dirty="0"/>
              <a:t>People are still very much interested in Web Design</a:t>
            </a:r>
          </a:p>
          <a:p>
            <a:r>
              <a:rPr lang="en-US" dirty="0"/>
              <a:t>The job market speaks for itself, big data is the future</a:t>
            </a:r>
          </a:p>
        </p:txBody>
      </p:sp>
    </p:spTree>
    <p:custDataLst>
      <p:tags r:id="rId1"/>
    </p:custDataLst>
    <p:extLst>
      <p:ext uri="{BB962C8B-B14F-4D97-AF65-F5344CB8AC3E}">
        <p14:creationId xmlns:p14="http://schemas.microsoft.com/office/powerpoint/2010/main" val="370128874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AA0F35-C02C-0C12-3664-049CAC5AFA6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80B430B-2D6C-26E3-5D00-4D061A250E06}"/>
              </a:ext>
            </a:extLst>
          </p:cNvPr>
          <p:cNvSpPr>
            <a:spLocks noGrp="1"/>
          </p:cNvSpPr>
          <p:nvPr>
            <p:ph type="title"/>
          </p:nvPr>
        </p:nvSpPr>
        <p:spPr>
          <a:xfrm>
            <a:off x="862584" y="428768"/>
            <a:ext cx="10515600" cy="1325563"/>
          </a:xfrm>
        </p:spPr>
        <p:txBody>
          <a:bodyPr/>
          <a:lstStyle/>
          <a:p>
            <a:r>
              <a:rPr lang="en-US" dirty="0"/>
              <a:t>DATABASE TRENDS</a:t>
            </a:r>
          </a:p>
        </p:txBody>
      </p:sp>
      <p:sp>
        <p:nvSpPr>
          <p:cNvPr id="3" name="Content Placeholder 2">
            <a:extLst>
              <a:ext uri="{FF2B5EF4-FFF2-40B4-BE49-F238E27FC236}">
                <a16:creationId xmlns:a16="http://schemas.microsoft.com/office/drawing/2014/main" id="{6C2B3FA5-2985-EAFB-8885-6820D4058AF4}"/>
              </a:ext>
            </a:extLst>
          </p:cNvPr>
          <p:cNvSpPr>
            <a:spLocks noGrp="1"/>
          </p:cNvSpPr>
          <p:nvPr>
            <p:ph sz="half" idx="1"/>
          </p:nvPr>
        </p:nvSpPr>
        <p:spPr>
          <a:xfrm>
            <a:off x="813816" y="2065128"/>
            <a:ext cx="2228642" cy="501939"/>
          </a:xfrm>
        </p:spPr>
        <p:txBody>
          <a:bodyPr/>
          <a:lstStyle/>
          <a:p>
            <a:pPr marL="0" indent="0">
              <a:buNone/>
            </a:pPr>
            <a:r>
              <a:rPr lang="en-US" dirty="0"/>
              <a:t>Current Year</a:t>
            </a:r>
          </a:p>
        </p:txBody>
      </p:sp>
      <p:sp>
        <p:nvSpPr>
          <p:cNvPr id="4" name="Content Placeholder 3">
            <a:extLst>
              <a:ext uri="{FF2B5EF4-FFF2-40B4-BE49-F238E27FC236}">
                <a16:creationId xmlns:a16="http://schemas.microsoft.com/office/drawing/2014/main" id="{30E0AA0B-A66B-F896-65D9-69DDA700D8E7}"/>
              </a:ext>
            </a:extLst>
          </p:cNvPr>
          <p:cNvSpPr>
            <a:spLocks noGrp="1"/>
          </p:cNvSpPr>
          <p:nvPr>
            <p:ph sz="half" idx="2"/>
          </p:nvPr>
        </p:nvSpPr>
        <p:spPr>
          <a:xfrm>
            <a:off x="6172200" y="2065127"/>
            <a:ext cx="1758142" cy="501939"/>
          </a:xfrm>
        </p:spPr>
        <p:txBody>
          <a:bodyPr/>
          <a:lstStyle/>
          <a:p>
            <a:pPr marL="0" indent="0">
              <a:buNone/>
            </a:pPr>
            <a:r>
              <a:rPr lang="en-US" dirty="0"/>
              <a:t>Next Year</a:t>
            </a:r>
          </a:p>
        </p:txBody>
      </p:sp>
      <p:sp>
        <p:nvSpPr>
          <p:cNvPr id="5" name="Content Placeholder 2">
            <a:extLst>
              <a:ext uri="{FF2B5EF4-FFF2-40B4-BE49-F238E27FC236}">
                <a16:creationId xmlns:a16="http://schemas.microsoft.com/office/drawing/2014/main" id="{B4E86EFD-B801-5996-879A-7A13CF75507C}"/>
              </a:ext>
            </a:extLst>
          </p:cNvPr>
          <p:cNvSpPr txBox="1">
            <a:spLocks/>
          </p:cNvSpPr>
          <p:nvPr/>
        </p:nvSpPr>
        <p:spPr>
          <a:xfrm>
            <a:off x="813816" y="2758931"/>
            <a:ext cx="4614949" cy="367030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a:buChar char="•"/>
              <a:defRPr sz="2800" kern="1200">
                <a:solidFill>
                  <a:srgbClr val="0070C0"/>
                </a:solidFill>
                <a:latin typeface="IBM Plex Mono Text" panose="020B0509050203000203" pitchFamily="49" charset="0"/>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rgbClr val="0070C0"/>
                </a:solidFill>
                <a:latin typeface="IBM Plex Mono Text" panose="020B0509050203000203" pitchFamily="49" charset="0"/>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rgbClr val="0070C0"/>
                </a:solidFill>
                <a:latin typeface="IBM Plex Mono Text" panose="020B0509050203000203" pitchFamily="49" charset="0"/>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rgbClr val="0070C0"/>
                </a:solidFill>
                <a:latin typeface="IBM Plex Mono Text" panose="020B0509050203000203" pitchFamily="49" charset="0"/>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rgbClr val="0070C0"/>
                </a:solidFill>
                <a:latin typeface="IBM Plex Mono Text" panose="020B0509050203000203" pitchFamily="49"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buNone/>
            </a:pPr>
            <a:endParaRPr lang="en-US" sz="2200" dirty="0">
              <a:solidFill>
                <a:schemeClr val="tx1"/>
              </a:solidFill>
            </a:endParaRPr>
          </a:p>
        </p:txBody>
      </p:sp>
      <p:sp>
        <p:nvSpPr>
          <p:cNvPr id="6" name="Content Placeholder 2">
            <a:extLst>
              <a:ext uri="{FF2B5EF4-FFF2-40B4-BE49-F238E27FC236}">
                <a16:creationId xmlns:a16="http://schemas.microsoft.com/office/drawing/2014/main" id="{EF288C39-3E30-44CF-06C3-D46763CC8E0C}"/>
              </a:ext>
            </a:extLst>
          </p:cNvPr>
          <p:cNvSpPr txBox="1">
            <a:spLocks/>
          </p:cNvSpPr>
          <p:nvPr/>
        </p:nvSpPr>
        <p:spPr>
          <a:xfrm>
            <a:off x="6172200" y="2695286"/>
            <a:ext cx="4614949" cy="367030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a:buChar char="•"/>
              <a:defRPr sz="2800" kern="1200">
                <a:solidFill>
                  <a:srgbClr val="0070C0"/>
                </a:solidFill>
                <a:latin typeface="IBM Plex Mono Text" panose="020B0509050203000203" pitchFamily="49" charset="0"/>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rgbClr val="0070C0"/>
                </a:solidFill>
                <a:latin typeface="IBM Plex Mono Text" panose="020B0509050203000203" pitchFamily="49" charset="0"/>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rgbClr val="0070C0"/>
                </a:solidFill>
                <a:latin typeface="IBM Plex Mono Text" panose="020B0509050203000203" pitchFamily="49" charset="0"/>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rgbClr val="0070C0"/>
                </a:solidFill>
                <a:latin typeface="IBM Plex Mono Text" panose="020B0509050203000203" pitchFamily="49" charset="0"/>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rgbClr val="0070C0"/>
                </a:solidFill>
                <a:latin typeface="IBM Plex Mono Text" panose="020B0509050203000203" pitchFamily="49"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buNone/>
            </a:pPr>
            <a:endParaRPr lang="en-US" sz="2200" dirty="0">
              <a:solidFill>
                <a:schemeClr val="tx1"/>
              </a:solidFill>
            </a:endParaRPr>
          </a:p>
        </p:txBody>
      </p:sp>
      <p:sp>
        <p:nvSpPr>
          <p:cNvPr id="7" name="TextBox 6">
            <a:extLst>
              <a:ext uri="{FF2B5EF4-FFF2-40B4-BE49-F238E27FC236}">
                <a16:creationId xmlns:a16="http://schemas.microsoft.com/office/drawing/2014/main" id="{917A0CDF-0FE0-1DE3-5B09-44D4318623B8}"/>
              </a:ext>
            </a:extLst>
          </p:cNvPr>
          <p:cNvSpPr txBox="1"/>
          <p:nvPr/>
        </p:nvSpPr>
        <p:spPr>
          <a:xfrm>
            <a:off x="813816" y="1442122"/>
            <a:ext cx="10429495" cy="461665"/>
          </a:xfrm>
          <a:prstGeom prst="rect">
            <a:avLst/>
          </a:prstGeom>
          <a:noFill/>
        </p:spPr>
        <p:txBody>
          <a:bodyPr wrap="square" rtlCol="0">
            <a:spAutoFit/>
          </a:bodyPr>
          <a:lstStyle/>
          <a:p>
            <a:r>
              <a:rPr lang="en-US" sz="2400" dirty="0"/>
              <a:t>PostgreSQL is reigns supreme; people know it and </a:t>
            </a:r>
            <a:r>
              <a:rPr lang="en-US" sz="2400" i="1" dirty="0"/>
              <a:t>want</a:t>
            </a:r>
            <a:r>
              <a:rPr lang="en-US" sz="2400" dirty="0"/>
              <a:t> to learn it. </a:t>
            </a:r>
          </a:p>
        </p:txBody>
      </p:sp>
      <p:pic>
        <p:nvPicPr>
          <p:cNvPr id="9" name="Picture 8">
            <a:extLst>
              <a:ext uri="{FF2B5EF4-FFF2-40B4-BE49-F238E27FC236}">
                <a16:creationId xmlns:a16="http://schemas.microsoft.com/office/drawing/2014/main" id="{16B67901-1746-B8AA-44BA-A1AAF46BD21E}"/>
              </a:ext>
            </a:extLst>
          </p:cNvPr>
          <p:cNvPicPr>
            <a:picLocks noChangeAspect="1"/>
          </p:cNvPicPr>
          <p:nvPr/>
        </p:nvPicPr>
        <p:blipFill>
          <a:blip r:embed="rId3"/>
          <a:stretch>
            <a:fillRect/>
          </a:stretch>
        </p:blipFill>
        <p:spPr>
          <a:xfrm>
            <a:off x="669702" y="2736692"/>
            <a:ext cx="4999578" cy="3223539"/>
          </a:xfrm>
          <a:prstGeom prst="rect">
            <a:avLst/>
          </a:prstGeom>
        </p:spPr>
      </p:pic>
      <p:pic>
        <p:nvPicPr>
          <p:cNvPr id="11" name="Picture 10">
            <a:extLst>
              <a:ext uri="{FF2B5EF4-FFF2-40B4-BE49-F238E27FC236}">
                <a16:creationId xmlns:a16="http://schemas.microsoft.com/office/drawing/2014/main" id="{767BEAF2-83E0-DEF0-43B3-FA6771F44EE3}"/>
              </a:ext>
            </a:extLst>
          </p:cNvPr>
          <p:cNvPicPr>
            <a:picLocks noChangeAspect="1"/>
          </p:cNvPicPr>
          <p:nvPr/>
        </p:nvPicPr>
        <p:blipFill>
          <a:blip r:embed="rId4"/>
          <a:stretch>
            <a:fillRect/>
          </a:stretch>
        </p:blipFill>
        <p:spPr>
          <a:xfrm>
            <a:off x="6172200" y="2448695"/>
            <a:ext cx="5350098" cy="3667499"/>
          </a:xfrm>
          <a:prstGeom prst="rect">
            <a:avLst/>
          </a:prstGeom>
        </p:spPr>
      </p:pic>
    </p:spTree>
    <p:custDataLst>
      <p:tags r:id="rId1"/>
    </p:custDataLst>
    <p:extLst>
      <p:ext uri="{BB962C8B-B14F-4D97-AF65-F5344CB8AC3E}">
        <p14:creationId xmlns:p14="http://schemas.microsoft.com/office/powerpoint/2010/main" val="150288744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8A6A9C-70D0-119E-38BE-1738DA5AD3A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D797E2B-01DB-9C21-4CF2-1586AB1C34C4}"/>
              </a:ext>
            </a:extLst>
          </p:cNvPr>
          <p:cNvSpPr>
            <a:spLocks noGrp="1"/>
          </p:cNvSpPr>
          <p:nvPr>
            <p:ph type="title"/>
          </p:nvPr>
        </p:nvSpPr>
        <p:spPr>
          <a:xfrm>
            <a:off x="734786" y="572944"/>
            <a:ext cx="11457214" cy="975302"/>
          </a:xfrm>
        </p:spPr>
        <p:txBody>
          <a:bodyPr>
            <a:normAutofit fontScale="90000"/>
          </a:bodyPr>
          <a:lstStyle/>
          <a:p>
            <a:r>
              <a:rPr lang="en-US" dirty="0"/>
              <a:t>DATABASE TRENDS - FINDINGS &amp; IMPLICATIONS</a:t>
            </a:r>
          </a:p>
        </p:txBody>
      </p:sp>
      <p:sp>
        <p:nvSpPr>
          <p:cNvPr id="3" name="Content Placeholder 2">
            <a:extLst>
              <a:ext uri="{FF2B5EF4-FFF2-40B4-BE49-F238E27FC236}">
                <a16:creationId xmlns:a16="http://schemas.microsoft.com/office/drawing/2014/main" id="{F73EC42F-75A2-FA08-F2B6-EB2817BBF83F}"/>
              </a:ext>
            </a:extLst>
          </p:cNvPr>
          <p:cNvSpPr>
            <a:spLocks noGrp="1"/>
          </p:cNvSpPr>
          <p:nvPr>
            <p:ph sz="half" idx="1"/>
          </p:nvPr>
        </p:nvSpPr>
        <p:spPr>
          <a:xfrm>
            <a:off x="813816" y="1825625"/>
            <a:ext cx="5181600" cy="4351338"/>
          </a:xfrm>
        </p:spPr>
        <p:txBody>
          <a:bodyPr/>
          <a:lstStyle/>
          <a:p>
            <a:pPr marL="0" indent="0">
              <a:buNone/>
            </a:pPr>
            <a:r>
              <a:rPr lang="en-US" dirty="0"/>
              <a:t>Findings</a:t>
            </a:r>
          </a:p>
          <a:p>
            <a:pPr marL="0" indent="0">
              <a:buNone/>
            </a:pPr>
            <a:endParaRPr lang="en-US" dirty="0"/>
          </a:p>
          <a:p>
            <a:r>
              <a:rPr lang="en-US" dirty="0"/>
              <a:t>PostgreSQL is King</a:t>
            </a:r>
          </a:p>
          <a:p>
            <a:r>
              <a:rPr lang="en-US" dirty="0"/>
              <a:t>Any variant of SQL is popular</a:t>
            </a:r>
          </a:p>
          <a:p>
            <a:r>
              <a:rPr lang="en-US" dirty="0"/>
              <a:t>Oracle is surprisingly low for such a popular database</a:t>
            </a:r>
          </a:p>
        </p:txBody>
      </p:sp>
      <p:sp>
        <p:nvSpPr>
          <p:cNvPr id="4" name="Content Placeholder 3">
            <a:extLst>
              <a:ext uri="{FF2B5EF4-FFF2-40B4-BE49-F238E27FC236}">
                <a16:creationId xmlns:a16="http://schemas.microsoft.com/office/drawing/2014/main" id="{D327B10A-E9C3-5B71-0345-782E28BDB37C}"/>
              </a:ext>
            </a:extLst>
          </p:cNvPr>
          <p:cNvSpPr>
            <a:spLocks noGrp="1"/>
          </p:cNvSpPr>
          <p:nvPr>
            <p:ph sz="half" idx="2"/>
          </p:nvPr>
        </p:nvSpPr>
        <p:spPr>
          <a:xfrm>
            <a:off x="6172200" y="1825625"/>
            <a:ext cx="5181600" cy="4351338"/>
          </a:xfrm>
        </p:spPr>
        <p:txBody>
          <a:bodyPr/>
          <a:lstStyle/>
          <a:p>
            <a:pPr marL="0" indent="0">
              <a:buNone/>
            </a:pPr>
            <a:r>
              <a:rPr lang="en-US" dirty="0"/>
              <a:t>Implications</a:t>
            </a:r>
          </a:p>
          <a:p>
            <a:pPr marL="0" indent="0">
              <a:buNone/>
            </a:pPr>
            <a:endParaRPr lang="en-US" dirty="0"/>
          </a:p>
          <a:p>
            <a:r>
              <a:rPr lang="en-US" dirty="0"/>
              <a:t>PostgreSQL is highly in demand</a:t>
            </a:r>
          </a:p>
          <a:p>
            <a:r>
              <a:rPr lang="en-US" dirty="0"/>
              <a:t>The future and present is SQL</a:t>
            </a:r>
          </a:p>
          <a:p>
            <a:r>
              <a:rPr lang="en-US" dirty="0"/>
              <a:t>Oracle seems like its falling behind</a:t>
            </a:r>
          </a:p>
        </p:txBody>
      </p:sp>
    </p:spTree>
    <p:custDataLst>
      <p:tags r:id="rId1"/>
    </p:custDataLst>
    <p:extLst>
      <p:ext uri="{BB962C8B-B14F-4D97-AF65-F5344CB8AC3E}">
        <p14:creationId xmlns:p14="http://schemas.microsoft.com/office/powerpoint/2010/main" val="318812595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E8291F-E27C-74F8-33D3-FF131FC9681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4BB7D73-872E-CFE8-1C38-8422F383863C}"/>
              </a:ext>
            </a:extLst>
          </p:cNvPr>
          <p:cNvSpPr>
            <a:spLocks noGrp="1"/>
          </p:cNvSpPr>
          <p:nvPr>
            <p:ph type="title"/>
          </p:nvPr>
        </p:nvSpPr>
        <p:spPr/>
        <p:txBody>
          <a:bodyPr anchor="ctr">
            <a:normAutofit/>
          </a:bodyPr>
          <a:lstStyle/>
          <a:p>
            <a:r>
              <a:rPr lang="en-US" dirty="0"/>
              <a:t>DASHBOARD</a:t>
            </a:r>
          </a:p>
        </p:txBody>
      </p:sp>
      <p:sp>
        <p:nvSpPr>
          <p:cNvPr id="3" name="Content Placeholder 2">
            <a:extLst>
              <a:ext uri="{FF2B5EF4-FFF2-40B4-BE49-F238E27FC236}">
                <a16:creationId xmlns:a16="http://schemas.microsoft.com/office/drawing/2014/main" id="{25C64183-B387-01E7-21BA-4DA6B1F51815}"/>
              </a:ext>
            </a:extLst>
          </p:cNvPr>
          <p:cNvSpPr txBox="1">
            <a:spLocks/>
          </p:cNvSpPr>
          <p:nvPr/>
        </p:nvSpPr>
        <p:spPr>
          <a:xfrm>
            <a:off x="4285075" y="3142210"/>
            <a:ext cx="7068725" cy="256923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a:buChar char="•"/>
              <a:defRPr sz="2800" kern="1200">
                <a:solidFill>
                  <a:srgbClr val="262626"/>
                </a:solidFill>
                <a:latin typeface="IBM Plex Sans" panose="020B0503050203000203" pitchFamily="34" charset="0"/>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rgbClr val="262626"/>
                </a:solidFill>
                <a:latin typeface="IBM Plex Sans" panose="020B0503050203000203" pitchFamily="34" charset="0"/>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rgbClr val="262626"/>
                </a:solidFill>
                <a:latin typeface="IBM Plex Sans" panose="020B0503050203000203" pitchFamily="34" charset="0"/>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rgbClr val="525252"/>
                </a:solidFill>
                <a:latin typeface="IBM Plex Sans" panose="020B0503050203000203" pitchFamily="34" charset="0"/>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rgbClr val="525252"/>
                </a:solidFill>
                <a:latin typeface="IBM Plex Sans" panose="020B0503050203000203" pitchFamily="34"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buFont typeface="Arial"/>
              <a:buNone/>
            </a:pPr>
            <a:r>
              <a:rPr lang="en-US" sz="2200" dirty="0"/>
              <a:t>My Dashboards….</a:t>
            </a:r>
          </a:p>
        </p:txBody>
      </p:sp>
      <p:pic>
        <p:nvPicPr>
          <p:cNvPr id="4" name="Picture 3">
            <a:extLst>
              <a:ext uri="{FF2B5EF4-FFF2-40B4-BE49-F238E27FC236}">
                <a16:creationId xmlns:a16="http://schemas.microsoft.com/office/drawing/2014/main" id="{A79822F7-4A79-5E92-9C6D-8A9769182E2E}"/>
              </a:ext>
            </a:extLst>
          </p:cNvPr>
          <p:cNvPicPr>
            <a:picLocks noChangeAspect="1"/>
          </p:cNvPicPr>
          <p:nvPr/>
        </p:nvPicPr>
        <p:blipFill>
          <a:blip r:embed="rId3"/>
          <a:stretch>
            <a:fillRect/>
          </a:stretch>
        </p:blipFill>
        <p:spPr>
          <a:xfrm>
            <a:off x="1077475" y="1901819"/>
            <a:ext cx="3054361" cy="3054361"/>
          </a:xfrm>
          <a:prstGeom prst="rect">
            <a:avLst/>
          </a:prstGeom>
        </p:spPr>
      </p:pic>
    </p:spTree>
    <p:custDataLst>
      <p:tags r:id="rId1"/>
    </p:custDataLst>
    <p:extLst>
      <p:ext uri="{BB962C8B-B14F-4D97-AF65-F5344CB8AC3E}">
        <p14:creationId xmlns:p14="http://schemas.microsoft.com/office/powerpoint/2010/main" val="17521984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42F0CA-55D1-0835-20D4-03D017A1D5D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D393914-A678-A34E-C52A-16D0ADAA25AF}"/>
              </a:ext>
            </a:extLst>
          </p:cNvPr>
          <p:cNvSpPr>
            <a:spLocks noGrp="1"/>
          </p:cNvSpPr>
          <p:nvPr>
            <p:ph type="title"/>
          </p:nvPr>
        </p:nvSpPr>
        <p:spPr>
          <a:xfrm>
            <a:off x="706582" y="365125"/>
            <a:ext cx="11087100" cy="985693"/>
          </a:xfrm>
        </p:spPr>
        <p:txBody>
          <a:bodyPr anchor="ctr">
            <a:noAutofit/>
          </a:bodyPr>
          <a:lstStyle/>
          <a:p>
            <a:r>
              <a:rPr lang="en-US" dirty="0"/>
              <a:t>DASHBOARD TAB 1: Current Technology Usage</a:t>
            </a:r>
          </a:p>
        </p:txBody>
      </p:sp>
      <p:sp>
        <p:nvSpPr>
          <p:cNvPr id="3" name="Content Placeholder 2">
            <a:extLst>
              <a:ext uri="{FF2B5EF4-FFF2-40B4-BE49-F238E27FC236}">
                <a16:creationId xmlns:a16="http://schemas.microsoft.com/office/drawing/2014/main" id="{B396FB03-F857-3EC0-249E-AE03F391502E}"/>
              </a:ext>
            </a:extLst>
          </p:cNvPr>
          <p:cNvSpPr>
            <a:spLocks noGrp="1"/>
          </p:cNvSpPr>
          <p:nvPr>
            <p:ph sz="half" idx="1"/>
          </p:nvPr>
        </p:nvSpPr>
        <p:spPr>
          <a:xfrm>
            <a:off x="838200" y="1690688"/>
            <a:ext cx="5917602" cy="4351338"/>
          </a:xfrm>
        </p:spPr>
        <p:txBody>
          <a:bodyPr/>
          <a:lstStyle/>
          <a:p>
            <a:pPr marL="0" indent="0">
              <a:buNone/>
            </a:pPr>
            <a:endParaRPr lang="en-US" dirty="0"/>
          </a:p>
          <a:p>
            <a:pPr marL="0" indent="0">
              <a:buNone/>
            </a:pPr>
            <a:endParaRPr lang="en-US" dirty="0"/>
          </a:p>
        </p:txBody>
      </p:sp>
      <p:pic>
        <p:nvPicPr>
          <p:cNvPr id="5" name="Picture 4">
            <a:extLst>
              <a:ext uri="{FF2B5EF4-FFF2-40B4-BE49-F238E27FC236}">
                <a16:creationId xmlns:a16="http://schemas.microsoft.com/office/drawing/2014/main" id="{2A098393-8261-DEB1-E5C0-E23609A70486}"/>
              </a:ext>
            </a:extLst>
          </p:cNvPr>
          <p:cNvPicPr>
            <a:picLocks noChangeAspect="1"/>
          </p:cNvPicPr>
          <p:nvPr/>
        </p:nvPicPr>
        <p:blipFill>
          <a:blip r:embed="rId3"/>
          <a:stretch>
            <a:fillRect/>
          </a:stretch>
        </p:blipFill>
        <p:spPr>
          <a:xfrm>
            <a:off x="706582" y="1450159"/>
            <a:ext cx="6124524" cy="4591867"/>
          </a:xfrm>
          <a:prstGeom prst="rect">
            <a:avLst/>
          </a:prstGeom>
        </p:spPr>
      </p:pic>
      <p:sp>
        <p:nvSpPr>
          <p:cNvPr id="7" name="TextBox 6">
            <a:extLst>
              <a:ext uri="{FF2B5EF4-FFF2-40B4-BE49-F238E27FC236}">
                <a16:creationId xmlns:a16="http://schemas.microsoft.com/office/drawing/2014/main" id="{7BD1A120-ED8D-409D-4AE8-7D0C96E975A5}"/>
              </a:ext>
            </a:extLst>
          </p:cNvPr>
          <p:cNvSpPr txBox="1"/>
          <p:nvPr/>
        </p:nvSpPr>
        <p:spPr>
          <a:xfrm>
            <a:off x="7412020" y="1690688"/>
            <a:ext cx="3732902" cy="1477328"/>
          </a:xfrm>
          <a:prstGeom prst="rect">
            <a:avLst/>
          </a:prstGeom>
          <a:noFill/>
        </p:spPr>
        <p:txBody>
          <a:bodyPr wrap="square" rtlCol="0">
            <a:spAutoFit/>
          </a:bodyPr>
          <a:lstStyle/>
          <a:p>
            <a:r>
              <a:rPr lang="en-US" dirty="0"/>
              <a:t>JavaScript and SQL dominate the languages that people currently know, as for Databases PostgreSQL and MySQL are most popular. </a:t>
            </a:r>
          </a:p>
        </p:txBody>
      </p:sp>
      <p:sp>
        <p:nvSpPr>
          <p:cNvPr id="9" name="TextBox 8">
            <a:extLst>
              <a:ext uri="{FF2B5EF4-FFF2-40B4-BE49-F238E27FC236}">
                <a16:creationId xmlns:a16="http://schemas.microsoft.com/office/drawing/2014/main" id="{B783B582-98C7-9635-7FEA-4309E6486377}"/>
              </a:ext>
            </a:extLst>
          </p:cNvPr>
          <p:cNvSpPr txBox="1"/>
          <p:nvPr/>
        </p:nvSpPr>
        <p:spPr>
          <a:xfrm>
            <a:off x="7412020" y="3429000"/>
            <a:ext cx="3382104" cy="2031325"/>
          </a:xfrm>
          <a:prstGeom prst="rect">
            <a:avLst/>
          </a:prstGeom>
          <a:noFill/>
        </p:spPr>
        <p:txBody>
          <a:bodyPr wrap="square" rtlCol="0">
            <a:spAutoFit/>
          </a:bodyPr>
          <a:lstStyle/>
          <a:p>
            <a:r>
              <a:rPr lang="en-US" dirty="0"/>
              <a:t>For the top performing platform that workers use Amazons AWS is most wanted, followed by Google Cloud. As for web frames React and Node JS are above and beyond everything else. </a:t>
            </a:r>
          </a:p>
        </p:txBody>
      </p:sp>
    </p:spTree>
    <p:custDataLst>
      <p:tags r:id="rId1"/>
    </p:custDataLst>
    <p:extLst>
      <p:ext uri="{BB962C8B-B14F-4D97-AF65-F5344CB8AC3E}">
        <p14:creationId xmlns:p14="http://schemas.microsoft.com/office/powerpoint/2010/main" val="242973672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18F23D-B8D7-D0E4-EDC5-E0F023884D8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94F933A-3681-3D82-68EF-62EC07822DAD}"/>
              </a:ext>
            </a:extLst>
          </p:cNvPr>
          <p:cNvSpPr>
            <a:spLocks noGrp="1"/>
          </p:cNvSpPr>
          <p:nvPr>
            <p:ph type="title"/>
          </p:nvPr>
        </p:nvSpPr>
        <p:spPr>
          <a:xfrm>
            <a:off x="727364" y="531380"/>
            <a:ext cx="11055926" cy="1016866"/>
          </a:xfrm>
        </p:spPr>
        <p:txBody>
          <a:bodyPr anchor="ctr">
            <a:normAutofit fontScale="90000"/>
          </a:bodyPr>
          <a:lstStyle/>
          <a:p>
            <a:r>
              <a:rPr lang="en-US" dirty="0"/>
              <a:t>DASHBOARD TAB 2: Future Technology Trends</a:t>
            </a:r>
          </a:p>
        </p:txBody>
      </p:sp>
      <p:sp>
        <p:nvSpPr>
          <p:cNvPr id="3" name="Content Placeholder 2">
            <a:extLst>
              <a:ext uri="{FF2B5EF4-FFF2-40B4-BE49-F238E27FC236}">
                <a16:creationId xmlns:a16="http://schemas.microsoft.com/office/drawing/2014/main" id="{73960BF9-AB8D-4916-3BC9-E2E92E0872BE}"/>
              </a:ext>
            </a:extLst>
          </p:cNvPr>
          <p:cNvSpPr>
            <a:spLocks noGrp="1"/>
          </p:cNvSpPr>
          <p:nvPr>
            <p:ph sz="half" idx="1"/>
          </p:nvPr>
        </p:nvSpPr>
        <p:spPr>
          <a:xfrm>
            <a:off x="838200" y="1690688"/>
            <a:ext cx="5436476" cy="4351338"/>
          </a:xfrm>
        </p:spPr>
        <p:txBody>
          <a:bodyPr/>
          <a:lstStyle/>
          <a:p>
            <a:pPr marL="0" indent="0">
              <a:buNone/>
            </a:pPr>
            <a:endParaRPr lang="en-US" dirty="0"/>
          </a:p>
          <a:p>
            <a:pPr marL="0" indent="0">
              <a:buNone/>
            </a:pPr>
            <a:endParaRPr lang="en-US" dirty="0"/>
          </a:p>
        </p:txBody>
      </p:sp>
      <p:pic>
        <p:nvPicPr>
          <p:cNvPr id="5" name="Picture 4">
            <a:extLst>
              <a:ext uri="{FF2B5EF4-FFF2-40B4-BE49-F238E27FC236}">
                <a16:creationId xmlns:a16="http://schemas.microsoft.com/office/drawing/2014/main" id="{ACD8235A-E07C-8590-FB04-33DAACA8E891}"/>
              </a:ext>
            </a:extLst>
          </p:cNvPr>
          <p:cNvPicPr>
            <a:picLocks noChangeAspect="1"/>
          </p:cNvPicPr>
          <p:nvPr/>
        </p:nvPicPr>
        <p:blipFill>
          <a:blip r:embed="rId3"/>
          <a:stretch>
            <a:fillRect/>
          </a:stretch>
        </p:blipFill>
        <p:spPr>
          <a:xfrm>
            <a:off x="727365" y="1469362"/>
            <a:ext cx="6756002" cy="4572664"/>
          </a:xfrm>
          <a:prstGeom prst="rect">
            <a:avLst/>
          </a:prstGeom>
        </p:spPr>
      </p:pic>
      <p:sp>
        <p:nvSpPr>
          <p:cNvPr id="6" name="TextBox 5">
            <a:extLst>
              <a:ext uri="{FF2B5EF4-FFF2-40B4-BE49-F238E27FC236}">
                <a16:creationId xmlns:a16="http://schemas.microsoft.com/office/drawing/2014/main" id="{D7A4434F-AA6C-D68C-2A8F-F8C94CE490E2}"/>
              </a:ext>
            </a:extLst>
          </p:cNvPr>
          <p:cNvSpPr txBox="1"/>
          <p:nvPr/>
        </p:nvSpPr>
        <p:spPr>
          <a:xfrm>
            <a:off x="7746124" y="1797269"/>
            <a:ext cx="3352800" cy="1754326"/>
          </a:xfrm>
          <a:prstGeom prst="rect">
            <a:avLst/>
          </a:prstGeom>
          <a:noFill/>
        </p:spPr>
        <p:txBody>
          <a:bodyPr wrap="square" rtlCol="0">
            <a:spAutoFit/>
          </a:bodyPr>
          <a:lstStyle/>
          <a:p>
            <a:r>
              <a:rPr lang="en-US" dirty="0"/>
              <a:t>For the future JavaScript and SQL are the most sought after languages people want to learn. For Databases PostgreSQL is the number one by a great margin. </a:t>
            </a:r>
          </a:p>
        </p:txBody>
      </p:sp>
      <p:sp>
        <p:nvSpPr>
          <p:cNvPr id="7" name="TextBox 6">
            <a:extLst>
              <a:ext uri="{FF2B5EF4-FFF2-40B4-BE49-F238E27FC236}">
                <a16:creationId xmlns:a16="http://schemas.microsoft.com/office/drawing/2014/main" id="{7C7FAE8D-2232-8796-2C67-F22BF08FAF4E}"/>
              </a:ext>
            </a:extLst>
          </p:cNvPr>
          <p:cNvSpPr txBox="1"/>
          <p:nvPr/>
        </p:nvSpPr>
        <p:spPr>
          <a:xfrm>
            <a:off x="7746123" y="3866356"/>
            <a:ext cx="3352799" cy="1200329"/>
          </a:xfrm>
          <a:prstGeom prst="rect">
            <a:avLst/>
          </a:prstGeom>
          <a:noFill/>
        </p:spPr>
        <p:txBody>
          <a:bodyPr wrap="square" rtlCol="0">
            <a:spAutoFit/>
          </a:bodyPr>
          <a:lstStyle/>
          <a:p>
            <a:r>
              <a:rPr lang="en-US" dirty="0"/>
              <a:t>For in demand platforms Amazons AWS is the gold standard for what companies use and what they seek. </a:t>
            </a:r>
          </a:p>
        </p:txBody>
      </p:sp>
    </p:spTree>
    <p:custDataLst>
      <p:tags r:id="rId1"/>
    </p:custDataLst>
    <p:extLst>
      <p:ext uri="{BB962C8B-B14F-4D97-AF65-F5344CB8AC3E}">
        <p14:creationId xmlns:p14="http://schemas.microsoft.com/office/powerpoint/2010/main" val="204849667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0A10D3-267F-7A90-5160-775BFEBCA69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12C0C82-5F1A-F7B1-2C56-5C08240C1647}"/>
              </a:ext>
            </a:extLst>
          </p:cNvPr>
          <p:cNvSpPr>
            <a:spLocks noGrp="1"/>
          </p:cNvSpPr>
          <p:nvPr>
            <p:ph type="title"/>
          </p:nvPr>
        </p:nvSpPr>
        <p:spPr/>
        <p:txBody>
          <a:bodyPr anchor="ctr">
            <a:normAutofit/>
          </a:bodyPr>
          <a:lstStyle/>
          <a:p>
            <a:r>
              <a:rPr lang="en-US" dirty="0"/>
              <a:t>DASHBOARD TAB 3: Demographics</a:t>
            </a:r>
          </a:p>
        </p:txBody>
      </p:sp>
      <p:pic>
        <p:nvPicPr>
          <p:cNvPr id="5" name="Content Placeholder 4">
            <a:extLst>
              <a:ext uri="{FF2B5EF4-FFF2-40B4-BE49-F238E27FC236}">
                <a16:creationId xmlns:a16="http://schemas.microsoft.com/office/drawing/2014/main" id="{BED6A0F1-358B-9905-8C3A-814FC46CF4D4}"/>
              </a:ext>
            </a:extLst>
          </p:cNvPr>
          <p:cNvPicPr>
            <a:picLocks noGrp="1" noChangeAspect="1"/>
          </p:cNvPicPr>
          <p:nvPr>
            <p:ph sz="half" idx="1"/>
          </p:nvPr>
        </p:nvPicPr>
        <p:blipFill>
          <a:blip r:embed="rId3"/>
          <a:stretch>
            <a:fillRect/>
          </a:stretch>
        </p:blipFill>
        <p:spPr>
          <a:xfrm>
            <a:off x="534966" y="1570616"/>
            <a:ext cx="6199321" cy="4629483"/>
          </a:xfrm>
          <a:prstGeom prst="rect">
            <a:avLst/>
          </a:prstGeom>
        </p:spPr>
      </p:pic>
      <p:sp>
        <p:nvSpPr>
          <p:cNvPr id="7" name="TextBox 6">
            <a:extLst>
              <a:ext uri="{FF2B5EF4-FFF2-40B4-BE49-F238E27FC236}">
                <a16:creationId xmlns:a16="http://schemas.microsoft.com/office/drawing/2014/main" id="{B5769993-4BEC-B45F-0ADC-D6C061CF0D68}"/>
              </a:ext>
            </a:extLst>
          </p:cNvPr>
          <p:cNvSpPr txBox="1"/>
          <p:nvPr/>
        </p:nvSpPr>
        <p:spPr>
          <a:xfrm>
            <a:off x="6949441" y="1570616"/>
            <a:ext cx="4152452" cy="3139321"/>
          </a:xfrm>
          <a:prstGeom prst="rect">
            <a:avLst/>
          </a:prstGeom>
          <a:noFill/>
        </p:spPr>
        <p:txBody>
          <a:bodyPr wrap="square" rtlCol="0">
            <a:spAutoFit/>
          </a:bodyPr>
          <a:lstStyle/>
          <a:p>
            <a:r>
              <a:rPr lang="en-US" dirty="0"/>
              <a:t>Respondents by age are a majority in the 25- 44 age range. </a:t>
            </a:r>
          </a:p>
          <a:p>
            <a:endParaRPr lang="en-US" dirty="0"/>
          </a:p>
          <a:p>
            <a:r>
              <a:rPr lang="en-US" dirty="0"/>
              <a:t>A large chunk of our respondents are from the USA and Europe , a long with a few in Asia, Oceana, and South America. </a:t>
            </a:r>
          </a:p>
          <a:p>
            <a:endParaRPr lang="en-US" dirty="0"/>
          </a:p>
          <a:p>
            <a:r>
              <a:rPr lang="en-US" dirty="0"/>
              <a:t>For Education Level peoples with a Bachelorettes degree are the majority in this field. </a:t>
            </a:r>
          </a:p>
        </p:txBody>
      </p:sp>
    </p:spTree>
    <p:custDataLst>
      <p:tags r:id="rId1"/>
    </p:custDataLst>
    <p:extLst>
      <p:ext uri="{BB962C8B-B14F-4D97-AF65-F5344CB8AC3E}">
        <p14:creationId xmlns:p14="http://schemas.microsoft.com/office/powerpoint/2010/main" val="240563622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762C0A-56EF-B349-A097-27B4D460D1E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1298769-531F-C6A5-406F-D1C3D2805950}"/>
              </a:ext>
            </a:extLst>
          </p:cNvPr>
          <p:cNvSpPr>
            <a:spLocks noGrp="1"/>
          </p:cNvSpPr>
          <p:nvPr>
            <p:ph type="title"/>
          </p:nvPr>
        </p:nvSpPr>
        <p:spPr/>
        <p:txBody>
          <a:bodyPr anchor="ctr">
            <a:normAutofit/>
          </a:bodyPr>
          <a:lstStyle/>
          <a:p>
            <a:r>
              <a:rPr lang="en-US" dirty="0"/>
              <a:t>DISCUSSION</a:t>
            </a:r>
          </a:p>
        </p:txBody>
      </p:sp>
      <p:pic>
        <p:nvPicPr>
          <p:cNvPr id="3" name="Content Placeholder 2">
            <a:extLst>
              <a:ext uri="{FF2B5EF4-FFF2-40B4-BE49-F238E27FC236}">
                <a16:creationId xmlns:a16="http://schemas.microsoft.com/office/drawing/2014/main" id="{1F45ECC1-C956-CADF-DDFD-F54C6608E401}"/>
              </a:ext>
            </a:extLst>
          </p:cNvPr>
          <p:cNvPicPr>
            <a:picLocks noGrp="1" noChangeAspect="1"/>
          </p:cNvPicPr>
          <p:nvPr>
            <p:ph sz="half" idx="1"/>
          </p:nvPr>
        </p:nvPicPr>
        <p:blipFill>
          <a:blip r:embed="rId4"/>
          <a:stretch>
            <a:fillRect/>
          </a:stretch>
        </p:blipFill>
        <p:spPr>
          <a:xfrm>
            <a:off x="1143282" y="2348628"/>
            <a:ext cx="3054361" cy="3054361"/>
          </a:xfrm>
          <a:prstGeom prst="rect">
            <a:avLst/>
          </a:prstGeom>
          <a:noFill/>
        </p:spPr>
      </p:pic>
      <p:sp>
        <p:nvSpPr>
          <p:cNvPr id="4" name="Content Placeholder 3">
            <a:extLst>
              <a:ext uri="{FF2B5EF4-FFF2-40B4-BE49-F238E27FC236}">
                <a16:creationId xmlns:a16="http://schemas.microsoft.com/office/drawing/2014/main" id="{0F67EF50-003F-6BB0-4367-42BB884C77A4}"/>
              </a:ext>
            </a:extLst>
          </p:cNvPr>
          <p:cNvSpPr>
            <a:spLocks noGrp="1"/>
          </p:cNvSpPr>
          <p:nvPr>
            <p:ph sz="half" idx="2"/>
          </p:nvPr>
        </p:nvSpPr>
        <p:spPr>
          <a:xfrm>
            <a:off x="5081155" y="1825625"/>
            <a:ext cx="6272645" cy="4351338"/>
          </a:xfrm>
        </p:spPr>
        <p:txBody>
          <a:bodyPr/>
          <a:lstStyle/>
          <a:p>
            <a:pPr marL="0" indent="0">
              <a:buNone/>
            </a:pPr>
            <a:r>
              <a:rPr lang="en-US" dirty="0"/>
              <a:t>The data tells a clear story — Python is the single best technology investment for both developers and organizations. It ranks #1 in desired learning, commands a $114K average salary, and aligns directly with AI and data engineering — the fastest growing sector in tech.</a:t>
            </a:r>
          </a:p>
        </p:txBody>
      </p:sp>
    </p:spTree>
    <p:custDataLst>
      <p:tags r:id="rId1"/>
    </p:custDataLst>
    <p:extLst>
      <p:ext uri="{BB962C8B-B14F-4D97-AF65-F5344CB8AC3E}">
        <p14:creationId xmlns:p14="http://schemas.microsoft.com/office/powerpoint/2010/main" val="85733354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F05330-0589-A550-601A-037CA416F60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EBA8902-AF46-DDE8-D792-7940E18AF629}"/>
              </a:ext>
            </a:extLst>
          </p:cNvPr>
          <p:cNvSpPr>
            <a:spLocks noGrp="1"/>
          </p:cNvSpPr>
          <p:nvPr>
            <p:ph type="title"/>
          </p:nvPr>
        </p:nvSpPr>
        <p:spPr/>
        <p:txBody>
          <a:bodyPr/>
          <a:lstStyle/>
          <a:p>
            <a:r>
              <a:rPr lang="en-US" dirty="0"/>
              <a:t>OVERALL FINDINGS &amp; IMPLICATIONS</a:t>
            </a:r>
          </a:p>
        </p:txBody>
      </p:sp>
      <p:sp>
        <p:nvSpPr>
          <p:cNvPr id="3" name="Content Placeholder 2">
            <a:extLst>
              <a:ext uri="{FF2B5EF4-FFF2-40B4-BE49-F238E27FC236}">
                <a16:creationId xmlns:a16="http://schemas.microsoft.com/office/drawing/2014/main" id="{D196B89C-35B9-C514-4E9C-FCBE8D68D3FD}"/>
              </a:ext>
            </a:extLst>
          </p:cNvPr>
          <p:cNvSpPr>
            <a:spLocks noGrp="1"/>
          </p:cNvSpPr>
          <p:nvPr>
            <p:ph sz="half" idx="1"/>
          </p:nvPr>
        </p:nvSpPr>
        <p:spPr>
          <a:xfrm>
            <a:off x="813816" y="1825625"/>
            <a:ext cx="5181600" cy="4351338"/>
          </a:xfrm>
        </p:spPr>
        <p:txBody>
          <a:bodyPr>
            <a:normAutofit/>
          </a:bodyPr>
          <a:lstStyle/>
          <a:p>
            <a:pPr marL="0" indent="0">
              <a:buNone/>
            </a:pPr>
            <a:r>
              <a:rPr lang="en-US" dirty="0"/>
              <a:t>Findings</a:t>
            </a:r>
          </a:p>
          <a:p>
            <a:pPr marL="0" indent="0">
              <a:buNone/>
            </a:pPr>
            <a:endParaRPr lang="en-US" dirty="0"/>
          </a:p>
          <a:p>
            <a:r>
              <a:rPr lang="en-US" dirty="0"/>
              <a:t>Swift pays a lot</a:t>
            </a:r>
          </a:p>
          <a:p>
            <a:r>
              <a:rPr lang="en-US" dirty="0"/>
              <a:t>Python is a safe investment</a:t>
            </a:r>
          </a:p>
          <a:p>
            <a:r>
              <a:rPr lang="en-US" dirty="0"/>
              <a:t>C++ is not going anywhere</a:t>
            </a:r>
          </a:p>
        </p:txBody>
      </p:sp>
      <p:sp>
        <p:nvSpPr>
          <p:cNvPr id="4" name="Content Placeholder 3">
            <a:extLst>
              <a:ext uri="{FF2B5EF4-FFF2-40B4-BE49-F238E27FC236}">
                <a16:creationId xmlns:a16="http://schemas.microsoft.com/office/drawing/2014/main" id="{2FDBBA5A-826D-FFFD-F1BE-92269842D330}"/>
              </a:ext>
            </a:extLst>
          </p:cNvPr>
          <p:cNvSpPr>
            <a:spLocks noGrp="1"/>
          </p:cNvSpPr>
          <p:nvPr>
            <p:ph sz="half" idx="2"/>
          </p:nvPr>
        </p:nvSpPr>
        <p:spPr>
          <a:xfrm>
            <a:off x="6172200" y="1825625"/>
            <a:ext cx="5181600" cy="4351338"/>
          </a:xfrm>
        </p:spPr>
        <p:txBody>
          <a:bodyPr>
            <a:normAutofit/>
          </a:bodyPr>
          <a:lstStyle/>
          <a:p>
            <a:pPr marL="0" indent="0">
              <a:buNone/>
            </a:pPr>
            <a:r>
              <a:rPr lang="en-US" dirty="0"/>
              <a:t>Implications</a:t>
            </a:r>
          </a:p>
          <a:p>
            <a:pPr marL="0" indent="0">
              <a:buNone/>
            </a:pPr>
            <a:endParaRPr lang="en-US" dirty="0"/>
          </a:p>
          <a:p>
            <a:r>
              <a:rPr lang="en-US" dirty="0"/>
              <a:t>Swift pays well, but </a:t>
            </a:r>
            <a:r>
              <a:rPr lang="en-US" dirty="0" err="1"/>
              <a:t>deman</a:t>
            </a:r>
            <a:r>
              <a:rPr lang="en-US" dirty="0"/>
              <a:t> is low</a:t>
            </a:r>
          </a:p>
          <a:p>
            <a:r>
              <a:rPr lang="en-US" dirty="0"/>
              <a:t>Master Python and you will always have a job</a:t>
            </a:r>
          </a:p>
          <a:p>
            <a:r>
              <a:rPr lang="en-US" dirty="0"/>
              <a:t>C++ is still used for engineering roles</a:t>
            </a:r>
          </a:p>
        </p:txBody>
      </p:sp>
    </p:spTree>
    <p:custDataLst>
      <p:tags r:id="rId1"/>
    </p:custDataLst>
    <p:extLst>
      <p:ext uri="{BB962C8B-B14F-4D97-AF65-F5344CB8AC3E}">
        <p14:creationId xmlns:p14="http://schemas.microsoft.com/office/powerpoint/2010/main" val="386563725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23A16F-6AB5-5C0B-5466-65B2A6AE811E}"/>
            </a:ext>
          </a:extLst>
        </p:cNvPr>
        <p:cNvGrpSpPr/>
        <p:nvPr/>
      </p:nvGrpSpPr>
      <p:grpSpPr>
        <a:xfrm>
          <a:off x="0" y="0"/>
          <a:ext cx="0" cy="0"/>
          <a:chOff x="0" y="0"/>
          <a:chExt cx="0" cy="0"/>
        </a:xfrm>
      </p:grpSpPr>
      <p:sp>
        <p:nvSpPr>
          <p:cNvPr id="11" name="Title 1">
            <a:extLst>
              <a:ext uri="{FF2B5EF4-FFF2-40B4-BE49-F238E27FC236}">
                <a16:creationId xmlns:a16="http://schemas.microsoft.com/office/drawing/2014/main" id="{5E978FF3-BC93-079A-1687-DD4786B81DF4}"/>
              </a:ext>
            </a:extLst>
          </p:cNvPr>
          <p:cNvSpPr>
            <a:spLocks noGrp="1"/>
          </p:cNvSpPr>
          <p:nvPr>
            <p:ph type="title"/>
          </p:nvPr>
        </p:nvSpPr>
        <p:spPr/>
        <p:txBody>
          <a:bodyPr anchor="ctr">
            <a:normAutofit/>
          </a:bodyPr>
          <a:lstStyle/>
          <a:p>
            <a:r>
              <a:rPr lang="en-US" dirty="0"/>
              <a:t>CONCLUSION</a:t>
            </a:r>
          </a:p>
        </p:txBody>
      </p:sp>
      <p:pic>
        <p:nvPicPr>
          <p:cNvPr id="13" name="Content Placeholder 5">
            <a:extLst>
              <a:ext uri="{FF2B5EF4-FFF2-40B4-BE49-F238E27FC236}">
                <a16:creationId xmlns:a16="http://schemas.microsoft.com/office/drawing/2014/main" id="{CD985AE9-0D12-3398-B9B7-4395CABF1707}"/>
              </a:ext>
            </a:extLst>
          </p:cNvPr>
          <p:cNvPicPr>
            <a:picLocks noGrp="1" noChangeAspect="1"/>
          </p:cNvPicPr>
          <p:nvPr>
            <p:ph sz="half" idx="1"/>
          </p:nvPr>
        </p:nvPicPr>
        <p:blipFill>
          <a:blip r:embed="rId3"/>
          <a:stretch>
            <a:fillRect/>
          </a:stretch>
        </p:blipFill>
        <p:spPr>
          <a:xfrm>
            <a:off x="1125967" y="2113896"/>
            <a:ext cx="3054361" cy="3054361"/>
          </a:xfrm>
          <a:prstGeom prst="rect">
            <a:avLst/>
          </a:prstGeom>
        </p:spPr>
      </p:pic>
      <p:sp>
        <p:nvSpPr>
          <p:cNvPr id="12" name="Content Placeholder 3">
            <a:extLst>
              <a:ext uri="{FF2B5EF4-FFF2-40B4-BE49-F238E27FC236}">
                <a16:creationId xmlns:a16="http://schemas.microsoft.com/office/drawing/2014/main" id="{2E75918E-509D-16F8-F478-FA41759FEFE9}"/>
              </a:ext>
            </a:extLst>
          </p:cNvPr>
          <p:cNvSpPr txBox="1">
            <a:spLocks/>
          </p:cNvSpPr>
          <p:nvPr/>
        </p:nvSpPr>
        <p:spPr>
          <a:xfrm>
            <a:off x="4544291" y="1825625"/>
            <a:ext cx="6809509" cy="4351338"/>
          </a:xfrm>
          <a:prstGeom prst="rect">
            <a:avLst/>
          </a:prstGeom>
        </p:spPr>
        <p:txBody>
          <a:bodyPr vert="horz" lIns="91440" tIns="45720" rIns="91440" bIns="45720" rtlCol="0">
            <a:normAutofit fontScale="70000" lnSpcReduction="20000"/>
          </a:bodyPr>
          <a:lstStyle>
            <a:lvl1pPr marL="228600" indent="-228600" algn="l" defTabSz="914400" rtl="0" eaLnBrk="1" latinLnBrk="0" hangingPunct="1">
              <a:lnSpc>
                <a:spcPct val="90000"/>
              </a:lnSpc>
              <a:spcBef>
                <a:spcPts val="1000"/>
              </a:spcBef>
              <a:buFont typeface="Arial"/>
              <a:buChar char="•"/>
              <a:defRPr sz="2800" kern="1200">
                <a:solidFill>
                  <a:srgbClr val="262626"/>
                </a:solidFill>
                <a:latin typeface="IBM Plex Sans" panose="020B0503050203000203" pitchFamily="34" charset="0"/>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rgbClr val="262626"/>
                </a:solidFill>
                <a:latin typeface="IBM Plex Sans" panose="020B0503050203000203" pitchFamily="34" charset="0"/>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rgbClr val="262626"/>
                </a:solidFill>
                <a:latin typeface="IBM Plex Sans" panose="020B0503050203000203" pitchFamily="34" charset="0"/>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rgbClr val="525252"/>
                </a:solidFill>
                <a:latin typeface="IBM Plex Sans" panose="020B0503050203000203" pitchFamily="34" charset="0"/>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rgbClr val="525252"/>
                </a:solidFill>
                <a:latin typeface="IBM Plex Sans" panose="020B0503050203000203" pitchFamily="34"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r>
              <a:rPr lang="en-US" b="1" dirty="0"/>
              <a:t>Swift pays the most but has low job demand</a:t>
            </a:r>
            <a:r>
              <a:rPr lang="en-US" dirty="0"/>
              <a:t> At $130,801 Swift leads in salary but barely appeared in job postings. High pay, niche market — mostly Apple/iOS development.</a:t>
            </a:r>
          </a:p>
          <a:p>
            <a:r>
              <a:rPr lang="en-US" b="1" dirty="0"/>
              <a:t>Python is the best overall investment</a:t>
            </a:r>
            <a:r>
              <a:rPr lang="en-US" dirty="0"/>
              <a:t> $114,383 salary, #1 in developer learning interest, and strong job market demand. Best combination of pay, demand, and future growth.</a:t>
            </a:r>
          </a:p>
          <a:p>
            <a:r>
              <a:rPr lang="en-US" b="1" dirty="0"/>
              <a:t>C++ has the most job postings but mid-range salary</a:t>
            </a:r>
            <a:r>
              <a:rPr lang="en-US" dirty="0"/>
              <a:t> 26,000+ job postings but $113,865 salary. High demand in systems engineering, gaming, and embedded systems — but not the highest paying.</a:t>
            </a:r>
          </a:p>
          <a:p>
            <a:r>
              <a:rPr lang="en-US" b="1" dirty="0"/>
              <a:t>PHP and SQL are the lowest paying</a:t>
            </a:r>
            <a:r>
              <a:rPr lang="en-US" dirty="0"/>
              <a:t> At $84,727 and $84,793 respectively — both are mature technologies with declining appeal. Developers are actively moving away from PHP toward Python and JavaScript based on the survey data.</a:t>
            </a:r>
          </a:p>
        </p:txBody>
      </p:sp>
    </p:spTree>
    <p:custDataLst>
      <p:tags r:id="rId1"/>
    </p:custDataLst>
    <p:extLst>
      <p:ext uri="{BB962C8B-B14F-4D97-AF65-F5344CB8AC3E}">
        <p14:creationId xmlns:p14="http://schemas.microsoft.com/office/powerpoint/2010/main" val="84037823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D1598F-DBE3-7B78-D1F9-0BA7F7DC75BC}"/>
            </a:ext>
          </a:extLst>
        </p:cNvPr>
        <p:cNvGrpSpPr/>
        <p:nvPr/>
      </p:nvGrpSpPr>
      <p:grpSpPr>
        <a:xfrm>
          <a:off x="0" y="0"/>
          <a:ext cx="0" cy="0"/>
          <a:chOff x="0" y="0"/>
          <a:chExt cx="0" cy="0"/>
        </a:xfrm>
      </p:grpSpPr>
      <p:sp>
        <p:nvSpPr>
          <p:cNvPr id="9" name="Title 1">
            <a:extLst>
              <a:ext uri="{FF2B5EF4-FFF2-40B4-BE49-F238E27FC236}">
                <a16:creationId xmlns:a16="http://schemas.microsoft.com/office/drawing/2014/main" id="{34A3B939-6057-23B6-25B3-E33A2D205C2A}"/>
              </a:ext>
            </a:extLst>
          </p:cNvPr>
          <p:cNvSpPr>
            <a:spLocks noGrp="1"/>
          </p:cNvSpPr>
          <p:nvPr>
            <p:ph type="title"/>
          </p:nvPr>
        </p:nvSpPr>
        <p:spPr/>
        <p:txBody>
          <a:bodyPr anchor="ctr">
            <a:normAutofit/>
          </a:bodyPr>
          <a:lstStyle/>
          <a:p>
            <a:r>
              <a:rPr lang="en-US" dirty="0"/>
              <a:t>APPENDIX</a:t>
            </a:r>
          </a:p>
        </p:txBody>
      </p:sp>
      <p:pic>
        <p:nvPicPr>
          <p:cNvPr id="11" name="Content Placeholder 3">
            <a:extLst>
              <a:ext uri="{FF2B5EF4-FFF2-40B4-BE49-F238E27FC236}">
                <a16:creationId xmlns:a16="http://schemas.microsoft.com/office/drawing/2014/main" id="{E8E550E5-7A15-A106-D083-8C1433A790A1}"/>
              </a:ext>
            </a:extLst>
          </p:cNvPr>
          <p:cNvPicPr>
            <a:picLocks noGrp="1" noChangeAspect="1"/>
          </p:cNvPicPr>
          <p:nvPr>
            <p:ph sz="half" idx="1"/>
          </p:nvPr>
        </p:nvPicPr>
        <p:blipFill>
          <a:blip r:embed="rId4"/>
          <a:stretch>
            <a:fillRect/>
          </a:stretch>
        </p:blipFill>
        <p:spPr>
          <a:xfrm>
            <a:off x="1055857" y="1849823"/>
            <a:ext cx="3194581" cy="3194581"/>
          </a:xfrm>
          <a:prstGeom prst="rect">
            <a:avLst/>
          </a:prstGeom>
        </p:spPr>
      </p:pic>
      <p:sp>
        <p:nvSpPr>
          <p:cNvPr id="10" name="Content Placeholder 3">
            <a:extLst>
              <a:ext uri="{FF2B5EF4-FFF2-40B4-BE49-F238E27FC236}">
                <a16:creationId xmlns:a16="http://schemas.microsoft.com/office/drawing/2014/main" id="{8E40FF55-AE57-CB43-454D-CEFBE080CE8E}"/>
              </a:ext>
            </a:extLst>
          </p:cNvPr>
          <p:cNvSpPr txBox="1">
            <a:spLocks/>
          </p:cNvSpPr>
          <p:nvPr/>
        </p:nvSpPr>
        <p:spPr>
          <a:xfrm>
            <a:off x="4544291" y="2982381"/>
            <a:ext cx="6809509" cy="319458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a:buChar char="•"/>
              <a:defRPr sz="2800" kern="1200">
                <a:solidFill>
                  <a:srgbClr val="262626"/>
                </a:solidFill>
                <a:latin typeface="IBM Plex Sans" panose="020B0503050203000203" pitchFamily="34" charset="0"/>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rgbClr val="262626"/>
                </a:solidFill>
                <a:latin typeface="IBM Plex Sans" panose="020B0503050203000203" pitchFamily="34" charset="0"/>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rgbClr val="262626"/>
                </a:solidFill>
                <a:latin typeface="IBM Plex Sans" panose="020B0503050203000203" pitchFamily="34" charset="0"/>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rgbClr val="525252"/>
                </a:solidFill>
                <a:latin typeface="IBM Plex Sans" panose="020B0503050203000203" pitchFamily="34" charset="0"/>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rgbClr val="525252"/>
                </a:solidFill>
                <a:latin typeface="IBM Plex Sans" panose="020B0503050203000203" pitchFamily="34"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buNone/>
            </a:pPr>
            <a:r>
              <a:rPr lang="en-US" dirty="0">
                <a:solidFill>
                  <a:srgbClr val="3D3838"/>
                </a:solidFill>
                <a:latin typeface="Source Sans 3" pitchFamily="34" charset="0"/>
                <a:ea typeface="Source Sans 3" pitchFamily="34" charset="-122"/>
                <a:cs typeface="Source Sans 3" pitchFamily="34" charset="-120"/>
              </a:rPr>
              <a:t>The trajectory is unambiguous. AI and big data are not adjacent to the software industry — they are becoming its foundation. Organizations that treat AI adoption as a long-term project risk falling behind competitors who are embedding it into operations today.</a:t>
            </a:r>
            <a:endParaRPr lang="en-US" dirty="0"/>
          </a:p>
          <a:p>
            <a:pPr marL="0" indent="0">
              <a:buNone/>
            </a:pPr>
            <a:endParaRPr lang="en-US" dirty="0"/>
          </a:p>
        </p:txBody>
      </p:sp>
      <p:sp>
        <p:nvSpPr>
          <p:cNvPr id="2" name="TextBox 1">
            <a:extLst>
              <a:ext uri="{FF2B5EF4-FFF2-40B4-BE49-F238E27FC236}">
                <a16:creationId xmlns:a16="http://schemas.microsoft.com/office/drawing/2014/main" id="{0F7DE4DB-1AFC-0301-F8E4-008003301B0A}"/>
              </a:ext>
            </a:extLst>
          </p:cNvPr>
          <p:cNvSpPr txBox="1"/>
          <p:nvPr/>
        </p:nvSpPr>
        <p:spPr>
          <a:xfrm>
            <a:off x="4866290" y="1797269"/>
            <a:ext cx="5985641" cy="1090555"/>
          </a:xfrm>
          <a:prstGeom prst="rect">
            <a:avLst/>
          </a:prstGeom>
          <a:noFill/>
        </p:spPr>
        <p:txBody>
          <a:bodyPr wrap="square" rtlCol="0">
            <a:spAutoFit/>
          </a:bodyPr>
          <a:lstStyle/>
          <a:p>
            <a:pPr>
              <a:lnSpc>
                <a:spcPct val="104000"/>
              </a:lnSpc>
            </a:pPr>
            <a:r>
              <a:rPr lang="en-US" sz="3200" b="1" dirty="0">
                <a:solidFill>
                  <a:srgbClr val="000000"/>
                </a:solidFill>
                <a:latin typeface="Montserrat Bold" pitchFamily="34" charset="0"/>
                <a:ea typeface="Montserrat Bold" pitchFamily="34" charset="-122"/>
                <a:cs typeface="Montserrat Bold" pitchFamily="34" charset="-120"/>
              </a:rPr>
              <a:t>The Road Ahead: AI &amp; Big Data Will Define the Decade</a:t>
            </a:r>
            <a:endParaRPr lang="en-US" sz="3200" dirty="0"/>
          </a:p>
        </p:txBody>
      </p:sp>
    </p:spTree>
    <p:custDataLst>
      <p:tags r:id="rId1"/>
    </p:custDataLst>
    <p:extLst>
      <p:ext uri="{BB962C8B-B14F-4D97-AF65-F5344CB8AC3E}">
        <p14:creationId xmlns:p14="http://schemas.microsoft.com/office/powerpoint/2010/main" val="1860158657"/>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COUNT" val="18"/>
  <p:tag name="ARTICULATE_DESIGN_ID_SLIDE_TEMPLATE_SKILL_NETWORK" val="762xjmeN"/>
  <p:tag name="ARTICULATE_DESIGN_ID_IBM DEVELOPER 2018 WHITE BACKGROUND" val="AcyDFp8V"/>
  <p:tag name="ARTICULATE_SLIDE_THUMBNAIL_REFRESH" val="1"/>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SLIDE_TEMPLATE_skill_network">
  <a:themeElements>
    <a:clrScheme name="IBM Skills Network">
      <a:dk1>
        <a:srgbClr val="262626"/>
      </a:dk1>
      <a:lt1>
        <a:srgbClr val="525252"/>
      </a:lt1>
      <a:dk2>
        <a:srgbClr val="FFFFFF"/>
      </a:dk2>
      <a:lt2>
        <a:srgbClr val="FFFFFF"/>
      </a:lt2>
      <a:accent1>
        <a:srgbClr val="6C4DEA"/>
      </a:accent1>
      <a:accent2>
        <a:srgbClr val="82CFFF"/>
      </a:accent2>
      <a:accent3>
        <a:srgbClr val="FF7EB6"/>
      </a:accent3>
      <a:accent4>
        <a:srgbClr val="3DDBD9"/>
      </a:accent4>
      <a:accent5>
        <a:srgbClr val="5B9BD5"/>
      </a:accent5>
      <a:accent6>
        <a:srgbClr val="525252"/>
      </a:accent6>
      <a:hlink>
        <a:srgbClr val="C1C7CD"/>
      </a:hlink>
      <a:folHlink>
        <a:srgbClr val="DA1E28"/>
      </a:folHlink>
    </a:clrScheme>
    <a:fontScheme name="IBM Skills Network">
      <a:majorFont>
        <a:latin typeface="IBM Plex Sans SemiBold"/>
        <a:ea typeface=""/>
        <a:cs typeface=""/>
      </a:majorFont>
      <a:minorFont>
        <a:latin typeface="IBM Plex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BM Skills Network PPT Template 01.2023.pptx" id="{565886F7-76CC-4370-877F-2511E1EB1B28}" vid="{AD061E48-3596-4052-9172-46F1919207B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438" row="1">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05445547-4CD8-432E-8B58-E443FD17F88F}">
  <we:reference id="wa200005566" version="3.0.0.3" store="en-US" storeType="OMEX"/>
  <we:alternateReferences>
    <we:reference id="wa200005566" version="3.0.0.3" store="wa200005566" storeType="OMEX"/>
  </we:alternateReferences>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EECD86F56755A646AC8AFCBCBD967F21" ma:contentTypeVersion="19" ma:contentTypeDescription="Create a new document." ma:contentTypeScope="" ma:versionID="d7279d4efbac013e02c1e816bc7f7c13">
  <xsd:schema xmlns:xsd="http://www.w3.org/2001/XMLSchema" xmlns:xs="http://www.w3.org/2001/XMLSchema" xmlns:p="http://schemas.microsoft.com/office/2006/metadata/properties" xmlns:ns2="155be751-a274-42e8-93fb-f39d3b9bccc8" xmlns:ns3="f80a141d-92ca-4d3d-9308-f7e7b1d44ce8" targetNamespace="http://schemas.microsoft.com/office/2006/metadata/properties" ma:root="true" ma:fieldsID="0a3fd1dbe83fc08387abb87098562ef0" ns2:_="" ns3:_="">
    <xsd:import namespace="155be751-a274-42e8-93fb-f39d3b9bccc8"/>
    <xsd:import namespace="f80a141d-92ca-4d3d-9308-f7e7b1d44ce8"/>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element ref="ns2:MediaServiceDateTaken" minOccurs="0"/>
                <xsd:element ref="ns2:MediaServiceGenerationTime" minOccurs="0"/>
                <xsd:element ref="ns2:MediaServiceEventHashCode" minOccurs="0"/>
                <xsd:element ref="ns2:MediaServiceAutoKeyPoints" minOccurs="0"/>
                <xsd:element ref="ns2:MediaServiceKeyPoints" minOccurs="0"/>
                <xsd:element ref="ns3:SharedWithUsers" minOccurs="0"/>
                <xsd:element ref="ns3:SharedWithDetails" minOccurs="0"/>
                <xsd:element ref="ns2:MediaServiceLocation" minOccurs="0"/>
                <xsd:element ref="ns2:MediaLengthInSeconds" minOccurs="0"/>
                <xsd:element ref="ns2:lcf76f155ced4ddcb4097134ff3c332f" minOccurs="0"/>
                <xsd:element ref="ns3:TaxCatchAll" minOccurs="0"/>
                <xsd:element ref="ns2:MediaServiceObjectDetectorVersions" minOccurs="0"/>
                <xsd:element ref="ns2:AWBlink"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55be751-a274-42e8-93fb-f39d3b9bccc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ServiceAutoKeyPoints" ma:index="15" nillable="true" ma:displayName="MediaServiceAutoKeyPoints" ma:hidden="true" ma:internalName="MediaServiceAutoKeyPoints" ma:readOnly="true">
      <xsd:simpleType>
        <xsd:restriction base="dms:Note"/>
      </xsd:simpleType>
    </xsd:element>
    <xsd:element name="MediaServiceKeyPoints" ma:index="16" nillable="true" ma:displayName="KeyPoints" ma:internalName="MediaServiceKeyPoints" ma:readOnly="true">
      <xsd:simpleType>
        <xsd:restriction base="dms:Note">
          <xsd:maxLength value="255"/>
        </xsd:restriction>
      </xsd:simpleType>
    </xsd:element>
    <xsd:element name="MediaServiceLocation" ma:index="19" nillable="true" ma:displayName="Location" ma:internalName="MediaServiceLocatio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1bfc8dc1-ab14-4a6b-8a4a-9f7f0b948a94"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4" nillable="true" ma:displayName="MediaServiceObjectDetectorVersions" ma:description="" ma:hidden="true" ma:indexed="true" ma:internalName="MediaServiceObjectDetectorVersions" ma:readOnly="true">
      <xsd:simpleType>
        <xsd:restriction base="dms:Text"/>
      </xsd:simpleType>
    </xsd:element>
    <xsd:element name="AWBlink" ma:index="25" nillable="true" ma:displayName="AWB link" ma:description="Author Workbench link" ma:format="Dropdown" ma:internalName="AWBlink">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f80a141d-92ca-4d3d-9308-f7e7b1d44ce8" elementFormDefault="qualified">
    <xsd:import namespace="http://schemas.microsoft.com/office/2006/documentManagement/types"/>
    <xsd:import namespace="http://schemas.microsoft.com/office/infopath/2007/PartnerControls"/>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02edd55d-11a0-43df-8094-42adcb6055ca}" ma:internalName="TaxCatchAll" ma:showField="CatchAllData" ma:web="f80a141d-92ca-4d3d-9308-f7e7b1d44ce8">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155be751-a274-42e8-93fb-f39d3b9bccc8">
      <Terms xmlns="http://schemas.microsoft.com/office/infopath/2007/PartnerControls"/>
    </lcf76f155ced4ddcb4097134ff3c332f>
    <TaxCatchAll xmlns="f80a141d-92ca-4d3d-9308-f7e7b1d44ce8" xsi:nil="true"/>
    <AWBlink xmlns="155be751-a274-42e8-93fb-f39d3b9bccc8"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EAB06F8-DBB4-44C7-AF84-8B098C8B039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155be751-a274-42e8-93fb-f39d3b9bccc8"/>
    <ds:schemaRef ds:uri="f80a141d-92ca-4d3d-9308-f7e7b1d44ce8"/>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54DA07C5-A406-4A0D-B3E6-3856C94AC7F3}">
  <ds:schemaRefs>
    <ds:schemaRef ds:uri="155be751-a274-42e8-93fb-f39d3b9bccc8"/>
    <ds:schemaRef ds:uri="http://purl.org/dc/elements/1.1/"/>
    <ds:schemaRef ds:uri="http://schemas.microsoft.com/office/infopath/2007/PartnerControls"/>
    <ds:schemaRef ds:uri="http://schemas.openxmlformats.org/package/2006/metadata/core-properties"/>
    <ds:schemaRef ds:uri="http://www.w3.org/XML/1998/namespace"/>
    <ds:schemaRef ds:uri="http://schemas.microsoft.com/office/2006/documentManagement/types"/>
    <ds:schemaRef ds:uri="http://schemas.microsoft.com/office/2006/metadata/properties"/>
    <ds:schemaRef ds:uri="http://purl.org/dc/dcmitype/"/>
    <ds:schemaRef ds:uri="f80a141d-92ca-4d3d-9308-f7e7b1d44ce8"/>
    <ds:schemaRef ds:uri="http://purl.org/dc/terms/"/>
  </ds:schemaRefs>
</ds:datastoreItem>
</file>

<file path=customXml/itemProps3.xml><?xml version="1.0" encoding="utf-8"?>
<ds:datastoreItem xmlns:ds="http://schemas.openxmlformats.org/officeDocument/2006/customXml" ds:itemID="{7EFDA260-DDA0-422C-B7AE-778F653FBB36}">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551</TotalTime>
  <Words>1020</Words>
  <Application>Microsoft Office PowerPoint</Application>
  <PresentationFormat>Widescreen</PresentationFormat>
  <Paragraphs>105</Paragraphs>
  <Slides>20</Slides>
  <Notes>3</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20</vt:i4>
      </vt:variant>
    </vt:vector>
  </HeadingPairs>
  <TitlesOfParts>
    <vt:vector size="30" baseType="lpstr">
      <vt:lpstr>Arial</vt:lpstr>
      <vt:lpstr>Calibri</vt:lpstr>
      <vt:lpstr>Helv</vt:lpstr>
      <vt:lpstr>IBM Plex Mono</vt:lpstr>
      <vt:lpstr>IBM Plex Mono Medium</vt:lpstr>
      <vt:lpstr>IBM Plex Sans</vt:lpstr>
      <vt:lpstr>IBM Plex Sans SemiBold</vt:lpstr>
      <vt:lpstr>Montserrat Bold</vt:lpstr>
      <vt:lpstr>Source Sans 3</vt:lpstr>
      <vt:lpstr>SLIDE_TEMPLATE_skill_network</vt:lpstr>
      <vt:lpstr>Data Analyst Capstone Project Report </vt:lpstr>
      <vt:lpstr>PowerPoint Presentation</vt:lpstr>
      <vt:lpstr>EXECUTIVE SUMMARY</vt:lpstr>
      <vt:lpstr>INTRODUCTION</vt:lpstr>
      <vt:lpstr>METHODOLOGY</vt:lpstr>
      <vt:lpstr>Results</vt:lpstr>
      <vt:lpstr> JOB POSTINGS</vt:lpstr>
      <vt:lpstr>POPULAR LANGUAGES</vt:lpstr>
      <vt:lpstr>PROGRAMMING LANGUAGE TRENDS</vt:lpstr>
      <vt:lpstr>PROGRAMMING LANGUAGE TRENDS - FINDINGS &amp; IMPLICATIONS</vt:lpstr>
      <vt:lpstr>DATABASE TRENDS</vt:lpstr>
      <vt:lpstr>DATABASE TRENDS - FINDINGS &amp; IMPLICATIONS</vt:lpstr>
      <vt:lpstr>DASHBOARD</vt:lpstr>
      <vt:lpstr>DASHBOARD TAB 1: Current Technology Usage</vt:lpstr>
      <vt:lpstr>DASHBOARD TAB 2: Future Technology Trends</vt:lpstr>
      <vt:lpstr>DASHBOARD TAB 3: Demographics</vt:lpstr>
      <vt:lpstr>DISCUSSION</vt:lpstr>
      <vt:lpstr>OVERALL FINDINGS &amp; IMPLICATIONS</vt:lpstr>
      <vt:lpstr>CONCLUSION</vt:lpstr>
      <vt:lpstr>APPENDIX</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Tori Sleeper</dc:creator>
  <cp:lastModifiedBy>Julio Zamora</cp:lastModifiedBy>
  <cp:revision>10</cp:revision>
  <dcterms:created xsi:type="dcterms:W3CDTF">2024-10-30T05:40:03Z</dcterms:created>
  <dcterms:modified xsi:type="dcterms:W3CDTF">2026-05-28T02:20:17Z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0x010100EECD86F56755A646AC8AFCBCBD967F21</vt:lpwstr>
  </property>
  <property fmtid="{D5CDD505-2E9C-101B-9397-08002B2CF9AE}" pid="3" name="MediaServiceImageTags">
    <vt:lpwstr/>
  </property>
  <property fmtid="{D5CDD505-2E9C-101B-9397-08002B2CF9AE}" pid="4" name="ArticulateGUID">
    <vt:lpwstr>07C438A6-8092-445C-AC0D-AE1422093206</vt:lpwstr>
  </property>
  <property fmtid="{D5CDD505-2E9C-101B-9397-08002B2CF9AE}" pid="5" name="ArticulatePath">
    <vt:lpwstr>https://skilluptech.sharepoint.com/sites/Coursera/Shared Documents/General/PPT template/IBM Skills Network PPT Template 01.2023</vt:lpwstr>
  </property>
</Properties>
</file>